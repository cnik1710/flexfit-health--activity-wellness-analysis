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7" r:id="rId4"/>
    <p:sldId id="259" r:id="rId5"/>
    <p:sldId id="260" r:id="rId6"/>
    <p:sldId id="272" r:id="rId7"/>
    <p:sldId id="263" r:id="rId8"/>
    <p:sldId id="265" r:id="rId9"/>
    <p:sldId id="262" r:id="rId10"/>
    <p:sldId id="273" r:id="rId11"/>
    <p:sldId id="264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152" y="1618488"/>
            <a:ext cx="12070080" cy="9966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FlexFit Health - Activity &amp; Wellness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CD89-E115-DC5F-B45A-2CDD4CDC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FB80-F047-4A14-4B1A-FB0EE0D09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FlexFit Health’s wearable activity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user engagement, product optimization, and wellness outcomes</a:t>
            </a:r>
            <a:r>
              <a:rPr lang="en-US" sz="1500" dirty="0"/>
              <a:t>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Assess how active users are across months and activity types.</a:t>
            </a:r>
          </a:p>
          <a:p>
            <a:pPr lvl="1"/>
            <a:r>
              <a:rPr lang="en-US" sz="1500" dirty="0"/>
              <a:t>Identify engagement patterns based on distance, minutes, and calories burned.</a:t>
            </a:r>
          </a:p>
          <a:p>
            <a:pPr lvl="1"/>
            <a:r>
              <a:rPr lang="en-US" sz="1500" dirty="0"/>
              <a:t>Provide insights to improve </a:t>
            </a:r>
            <a:r>
              <a:rPr lang="en-US" sz="1500" b="1" dirty="0"/>
              <a:t>user motivation and fitness app performance.</a:t>
            </a:r>
            <a:endParaRPr lang="en-US" sz="1500" dirty="0"/>
          </a:p>
          <a:p>
            <a:pPr marL="0" indent="0">
              <a:buNone/>
            </a:pPr>
            <a:br>
              <a:rPr lang="en-US" sz="1500" b="1" dirty="0"/>
            </a:b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Users:</a:t>
            </a:r>
            <a:r>
              <a:rPr lang="en-US" sz="1500" dirty="0"/>
              <a:t> 33</a:t>
            </a:r>
          </a:p>
          <a:p>
            <a:pPr lvl="1"/>
            <a:r>
              <a:rPr lang="en-US" sz="1500" b="1" dirty="0"/>
              <a:t>Total Duration:</a:t>
            </a:r>
            <a:r>
              <a:rPr lang="en-US" sz="1500" dirty="0"/>
              <a:t> 11 Months</a:t>
            </a:r>
          </a:p>
          <a:p>
            <a:pPr lvl="1"/>
            <a:r>
              <a:rPr lang="en-US" sz="1500" b="1" dirty="0"/>
              <a:t>Average Calories Burned:</a:t>
            </a:r>
            <a:r>
              <a:rPr lang="en-US" sz="1500" dirty="0"/>
              <a:t> 2.30K</a:t>
            </a:r>
          </a:p>
          <a:p>
            <a:pPr lvl="1"/>
            <a:r>
              <a:rPr lang="en-US" sz="1500" b="1" dirty="0"/>
              <a:t>Average Steps:</a:t>
            </a:r>
            <a:r>
              <a:rPr lang="en-US" sz="1500" dirty="0"/>
              <a:t> 7.64K</a:t>
            </a:r>
          </a:p>
          <a:p>
            <a:pPr lvl="1"/>
            <a:r>
              <a:rPr lang="en-US" sz="1500" b="1" dirty="0"/>
              <a:t>Average Active Minutes:</a:t>
            </a:r>
            <a:r>
              <a:rPr lang="en-US" sz="1500" dirty="0"/>
              <a:t> 227.54</a:t>
            </a:r>
          </a:p>
          <a:p>
            <a:pPr lvl="1"/>
            <a:r>
              <a:rPr lang="en-US" sz="1500" b="1" dirty="0"/>
              <a:t>Untracked Distance:</a:t>
            </a:r>
            <a:r>
              <a:rPr lang="en-US" sz="1500" dirty="0"/>
              <a:t> 13.49 Km</a:t>
            </a:r>
          </a:p>
          <a:p>
            <a:pPr lvl="1"/>
            <a:r>
              <a:rPr lang="en-US" sz="1500" b="1" dirty="0"/>
              <a:t>Active Days:</a:t>
            </a:r>
            <a:r>
              <a:rPr lang="en-US" sz="1500" dirty="0"/>
              <a:t> 864 | </a:t>
            </a:r>
            <a:r>
              <a:rPr lang="en-US" sz="1500" b="1" dirty="0"/>
              <a:t>Inactive Days:</a:t>
            </a:r>
            <a:r>
              <a:rPr lang="en-US" sz="1500" dirty="0"/>
              <a:t> 76</a:t>
            </a:r>
          </a:p>
          <a:p>
            <a:pPr marL="0" indent="0">
              <a:buNone/>
            </a:pPr>
            <a:br>
              <a:rPr lang="en-US" sz="1500" b="1" dirty="0"/>
            </a:b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r>
              <a:rPr lang="en-US" sz="1500" dirty="0"/>
              <a:t> showing user activity &amp; wellness patterns.</a:t>
            </a:r>
          </a:p>
          <a:p>
            <a:pPr lvl="1"/>
            <a:r>
              <a:rPr lang="en-US" sz="1500" dirty="0"/>
              <a:t>Detailed analysis on </a:t>
            </a:r>
            <a:r>
              <a:rPr lang="en-US" sz="1500" b="1" dirty="0"/>
              <a:t>engagement trends and activity performance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3967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D255-8A6B-C4FC-2D8B-3BAAE323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47DC-FB9B-EBC9-396C-9B7FFC844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 :</a:t>
            </a:r>
          </a:p>
          <a:p>
            <a:pPr marL="0" indent="0">
              <a:buNone/>
            </a:pPr>
            <a:r>
              <a:rPr lang="en-US" sz="1500" dirty="0"/>
              <a:t>The analysis helps FlexFit Health’s </a:t>
            </a:r>
            <a:r>
              <a:rPr lang="en-US" sz="1500" b="1" dirty="0"/>
              <a:t>marketing, R&amp;D,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sz="1500" dirty="0"/>
              <a:t>How users engage with fitness trackers</a:t>
            </a:r>
          </a:p>
          <a:p>
            <a:pPr lvl="1"/>
            <a:r>
              <a:rPr lang="en-US" sz="1500" dirty="0"/>
              <a:t>Which neighborhoods are most active</a:t>
            </a:r>
          </a:p>
          <a:p>
            <a:pPr lvl="1"/>
            <a:r>
              <a:rPr lang="en-US" sz="1500" dirty="0"/>
              <a:t>Relationships between </a:t>
            </a:r>
            <a:r>
              <a:rPr lang="en-US" sz="1500" b="1" dirty="0"/>
              <a:t>steps, calories, and active minutes</a:t>
            </a:r>
            <a:endParaRPr lang="en-US" sz="1500" dirty="0"/>
          </a:p>
          <a:p>
            <a:pPr lvl="1"/>
            <a:r>
              <a:rPr lang="en-US" sz="1500" dirty="0"/>
              <a:t>How activity varies by </a:t>
            </a:r>
            <a:r>
              <a:rPr lang="en-US" sz="1500" b="1" dirty="0"/>
              <a:t>age, location, and time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Using </a:t>
            </a:r>
            <a:r>
              <a:rPr lang="en-US" sz="1500" b="1" dirty="0"/>
              <a:t>Excel, Power Query, and Power BI</a:t>
            </a:r>
            <a:r>
              <a:rPr lang="en-US" sz="1500" dirty="0"/>
              <a:t>, the project transforms raw activity data into an </a:t>
            </a:r>
            <a:r>
              <a:rPr lang="en-US" sz="1500" b="1" dirty="0"/>
              <a:t>interactive dashboard</a:t>
            </a:r>
            <a:r>
              <a:rPr lang="en-US" sz="1500" dirty="0"/>
              <a:t> that visualizes key metrics and trends — driving </a:t>
            </a:r>
            <a:r>
              <a:rPr lang="en-US" sz="1500" b="1" dirty="0"/>
              <a:t>data-informed wellness strategies</a:t>
            </a:r>
            <a:r>
              <a:rPr lang="en-US" sz="1500" dirty="0"/>
              <a:t> and enhanced </a:t>
            </a:r>
            <a:r>
              <a:rPr lang="en-US" sz="1500" b="1" dirty="0"/>
              <a:t>user engagement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399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5DA7-F0EC-0E1E-B49D-9F24538E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E161-AF90-4BCF-0DB6-011AB0582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Primary Data Source &amp; Time Period: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fitness tracking dataset provided by </a:t>
            </a:r>
            <a:r>
              <a:rPr lang="en-US" sz="1500" b="1" dirty="0"/>
              <a:t>FlexFit Health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user profiles and daily activity logs captured via FlexFit smart devices.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Continuous daily activity tracking snapshot for the year </a:t>
            </a:r>
            <a:r>
              <a:rPr lang="en-US" sz="1500" b="1" dirty="0"/>
              <a:t>2016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  <a:endParaRPr lang="en-US" sz="1500" dirty="0"/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User-level records in the </a:t>
            </a:r>
            <a:r>
              <a:rPr lang="en-US" sz="1500" i="1" dirty="0"/>
              <a:t>User Details</a:t>
            </a:r>
            <a:r>
              <a:rPr lang="en-US" sz="1500" dirty="0"/>
              <a:t> dataset and date-level activity logs in the </a:t>
            </a:r>
            <a:r>
              <a:rPr lang="en-US" sz="1500" i="1" dirty="0"/>
              <a:t>Activity</a:t>
            </a:r>
            <a:r>
              <a:rPr lang="en-US" sz="1500" dirty="0"/>
              <a:t> dataset.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Users – </a:t>
            </a:r>
            <a:r>
              <a:rPr lang="en-US" sz="1500" b="1" dirty="0"/>
              <a:t>58</a:t>
            </a:r>
            <a:r>
              <a:rPr lang="en-US" sz="1500" dirty="0"/>
              <a:t>, Activity Logs – </a:t>
            </a:r>
            <a:r>
              <a:rPr lang="en-US" sz="1500" b="1" dirty="0"/>
              <a:t>~10,000+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Around 15+ features across three main segments: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First Name, Last Name, Age, Address, Neighborhood, Date</a:t>
            </a:r>
          </a:p>
          <a:p>
            <a:pPr lvl="2"/>
            <a:r>
              <a:rPr lang="en-US" sz="1500" b="1" dirty="0"/>
              <a:t>Performance Indicators:</a:t>
            </a:r>
            <a:r>
              <a:rPr lang="en-US" sz="1500" dirty="0"/>
              <a:t> Total vs. Tracker Distance, Logged Activity Distance, and Active Minutes split</a:t>
            </a:r>
          </a:p>
          <a:p>
            <a:pPr lvl="1"/>
            <a:r>
              <a:rPr lang="en-US" sz="1500" b="1" dirty="0"/>
              <a:t>Calculated Metrics:</a:t>
            </a:r>
            <a:r>
              <a:rPr lang="en-US" sz="1500" dirty="0"/>
              <a:t> Derived fields using </a:t>
            </a:r>
            <a:r>
              <a:rPr lang="en-US" sz="1500" b="1" dirty="0"/>
              <a:t>custom DAX measure</a:t>
            </a:r>
            <a:r>
              <a:rPr lang="en-US" sz="1500" dirty="0"/>
              <a:t> for Power BI insights.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Activity metrics:</a:t>
            </a:r>
            <a:r>
              <a:rPr lang="en-US" altLang="en-US" sz="1500" dirty="0"/>
              <a:t> Steps, Distance, Active Minutes (Light, Fairly, Very)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Derived metrics:</a:t>
            </a:r>
            <a:r>
              <a:rPr lang="en-US" altLang="en-US" sz="1500" dirty="0"/>
              <a:t> Total Calories Burned,  Engagement Level, Tracker Distance, Untracked Distance, </a:t>
            </a:r>
            <a:r>
              <a:rPr lang="en-US" sz="1500" dirty="0"/>
              <a:t>Total Active Time, Activity Intensity Score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82716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1B6-B3B2-523E-A6EE-541D848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9303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35A2-BF86-574F-A84C-1D37A000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  <a:endParaRPr lang="en-US" sz="1500" dirty="0"/>
          </a:p>
          <a:p>
            <a:pPr lvl="1"/>
            <a:r>
              <a:rPr lang="en-US" sz="1500" b="1" dirty="0"/>
              <a:t>Data Preparation &amp; Cleaning</a:t>
            </a:r>
            <a:endParaRPr lang="en-US" sz="1500" dirty="0"/>
          </a:p>
          <a:p>
            <a:pPr lvl="2"/>
            <a:r>
              <a:rPr lang="en-US" sz="1500" dirty="0"/>
              <a:t>Handled missing and inconsistent activity logs.</a:t>
            </a:r>
          </a:p>
          <a:p>
            <a:pPr lvl="2"/>
            <a:r>
              <a:rPr lang="en-US" sz="1500" dirty="0"/>
              <a:t>Standardized numeric fields and validated record accuracy.</a:t>
            </a:r>
          </a:p>
          <a:p>
            <a:pPr lvl="2"/>
            <a:r>
              <a:rPr lang="en-US" sz="1500" dirty="0"/>
              <a:t>Merged datasets via </a:t>
            </a:r>
            <a:r>
              <a:rPr lang="en-US" sz="1500" b="1" dirty="0"/>
              <a:t>User ID</a:t>
            </a:r>
            <a:r>
              <a:rPr lang="en-US" sz="1500" dirty="0"/>
              <a:t> to build a unified analytical model.</a:t>
            </a:r>
          </a:p>
          <a:p>
            <a:pPr lvl="1"/>
            <a:r>
              <a:rPr lang="en-US" sz="1500" b="1" dirty="0"/>
              <a:t>Data Modeling &amp; Integration</a:t>
            </a:r>
            <a:endParaRPr lang="en-US" sz="1500" dirty="0"/>
          </a:p>
          <a:p>
            <a:pPr lvl="2"/>
            <a:r>
              <a:rPr lang="en-US" sz="1500" dirty="0"/>
              <a:t>Established </a:t>
            </a:r>
            <a:r>
              <a:rPr lang="en-US" sz="1500" b="1" dirty="0"/>
              <a:t>User → Date → Activity</a:t>
            </a:r>
            <a:r>
              <a:rPr lang="en-US" sz="1500" dirty="0"/>
              <a:t> relationships.</a:t>
            </a:r>
          </a:p>
          <a:p>
            <a:pPr lvl="2"/>
            <a:r>
              <a:rPr lang="en-US" sz="1500" dirty="0"/>
              <a:t>Ensured </a:t>
            </a:r>
            <a:r>
              <a:rPr lang="en-US" sz="1500" b="1" dirty="0"/>
              <a:t>one-to-many integrity</a:t>
            </a:r>
            <a:r>
              <a:rPr lang="en-US" sz="1500" dirty="0"/>
              <a:t> (1 user → many activity records).</a:t>
            </a:r>
          </a:p>
          <a:p>
            <a:pPr lvl="1"/>
            <a:r>
              <a:rPr lang="en-US" sz="1500" b="1" dirty="0"/>
              <a:t>Feature Engineering</a:t>
            </a:r>
            <a:endParaRPr lang="en-US" sz="1500" dirty="0"/>
          </a:p>
          <a:p>
            <a:pPr lvl="2"/>
            <a:r>
              <a:rPr lang="en-US" sz="1500" dirty="0"/>
              <a:t>Derived new measures: </a:t>
            </a:r>
            <a:r>
              <a:rPr lang="en-US" sz="1500" b="1" dirty="0"/>
              <a:t>Active Minutes</a:t>
            </a:r>
            <a:r>
              <a:rPr lang="en-US" sz="1500" dirty="0"/>
              <a:t>, </a:t>
            </a:r>
            <a:r>
              <a:rPr lang="en-US" sz="1500" b="1" dirty="0"/>
              <a:t>Engagement Type</a:t>
            </a:r>
            <a:r>
              <a:rPr lang="en-US" sz="1500" dirty="0"/>
              <a:t>, and </a:t>
            </a:r>
            <a:r>
              <a:rPr lang="en-US" sz="1500" b="1" dirty="0"/>
              <a:t>Untracked Distance</a:t>
            </a:r>
            <a:r>
              <a:rPr lang="en-US" sz="1500" dirty="0"/>
              <a:t>.</a:t>
            </a:r>
          </a:p>
          <a:p>
            <a:pPr lvl="2"/>
            <a:r>
              <a:rPr lang="en-US" sz="1500" dirty="0"/>
              <a:t>Split </a:t>
            </a:r>
            <a:r>
              <a:rPr lang="en-US" sz="1500" b="1" dirty="0"/>
              <a:t>Address → Neighborhood</a:t>
            </a:r>
            <a:r>
              <a:rPr lang="en-US" sz="1500" dirty="0"/>
              <a:t> using Power Query for location insights.</a:t>
            </a:r>
          </a:p>
          <a:p>
            <a:pPr lvl="1"/>
            <a:r>
              <a:rPr lang="en-US" sz="1500" b="1" dirty="0"/>
              <a:t>Visualization Design</a:t>
            </a:r>
            <a:endParaRPr lang="en-US" sz="1500" dirty="0"/>
          </a:p>
          <a:p>
            <a:pPr lvl="2"/>
            <a:r>
              <a:rPr lang="en-US" sz="1500" dirty="0"/>
              <a:t>Built two interactive dashboards:</a:t>
            </a:r>
            <a:br>
              <a:rPr lang="en-US" sz="1500" dirty="0"/>
            </a:br>
            <a:r>
              <a:rPr lang="en-US" sz="1500" dirty="0"/>
              <a:t>	• </a:t>
            </a:r>
            <a:r>
              <a:rPr lang="en-US" sz="1500" i="1" dirty="0"/>
              <a:t>Engagement Overview</a:t>
            </a:r>
            <a:br>
              <a:rPr lang="en-US" sz="1500" i="1" dirty="0"/>
            </a:br>
            <a:r>
              <a:rPr lang="en-US" sz="1500" i="1" dirty="0"/>
              <a:t>	• Activity Performance</a:t>
            </a:r>
          </a:p>
          <a:p>
            <a:pPr lvl="2"/>
            <a:r>
              <a:rPr lang="en-US" sz="1500" dirty="0"/>
              <a:t>Applied synchronized </a:t>
            </a:r>
            <a:r>
              <a:rPr lang="en-US" sz="1500" b="1" dirty="0"/>
              <a:t>slicers</a:t>
            </a:r>
            <a:r>
              <a:rPr lang="en-US" sz="1500" dirty="0"/>
              <a:t> for Age Group, User, and Timeframe filters.</a:t>
            </a:r>
          </a:p>
          <a:p>
            <a:pPr lvl="1"/>
            <a:r>
              <a:rPr lang="en-US" sz="1500" b="1" dirty="0"/>
              <a:t>Data Validation &amp; Formatting</a:t>
            </a:r>
            <a:endParaRPr lang="en-US" sz="1500" dirty="0"/>
          </a:p>
          <a:p>
            <a:pPr lvl="2"/>
            <a:r>
              <a:rPr lang="en-US" sz="1500" dirty="0"/>
              <a:t>Verified data consistency across all relationships.</a:t>
            </a:r>
          </a:p>
          <a:p>
            <a:pPr lvl="2"/>
            <a:r>
              <a:rPr lang="en-US" sz="1500" dirty="0"/>
              <a:t>Standardized </a:t>
            </a:r>
            <a:r>
              <a:rPr lang="en-US" sz="1500" b="1" dirty="0"/>
              <a:t>date formats</a:t>
            </a:r>
            <a:r>
              <a:rPr lang="en-US" sz="1500" dirty="0"/>
              <a:t>, </a:t>
            </a:r>
            <a:r>
              <a:rPr lang="en-US" sz="1500" b="1" dirty="0"/>
              <a:t>distance units (KM)</a:t>
            </a:r>
            <a:r>
              <a:rPr lang="en-US" sz="1500" dirty="0"/>
              <a:t>, and </a:t>
            </a:r>
            <a:r>
              <a:rPr lang="en-US" sz="1500" b="1" dirty="0"/>
              <a:t>column names</a:t>
            </a:r>
            <a:r>
              <a:rPr lang="en-US" sz="1500" dirty="0"/>
              <a:t> for Power BI readiness.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8198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F99D-A532-6D29-9A7D-0D924702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1A5F-1080-308A-17D4-EE93E219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FlexFit Health, a next-generation fitness technology company, provides smart wearables that track users’ daily movements, calories burned, and overall activity levels.</a:t>
            </a:r>
          </a:p>
          <a:p>
            <a:pPr marL="0" indent="0">
              <a:buNone/>
            </a:pPr>
            <a:br>
              <a:rPr lang="en-US" sz="1500" dirty="0"/>
            </a:br>
            <a:r>
              <a:rPr lang="en-US" sz="1500" dirty="0"/>
              <a:t>This project analyzes daily user-level activity data from </a:t>
            </a:r>
            <a:r>
              <a:rPr lang="en-US" sz="1500" b="1" dirty="0"/>
              <a:t>New York City residents (Brooklyn &amp; Manhattan) over an 11-month period </a:t>
            </a:r>
            <a:r>
              <a:rPr lang="en-US" sz="1500" dirty="0"/>
              <a:t>to explore user engagement, fitness behaviors, and wellness outcomes.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How active are users across different months and age groups?</a:t>
            </a:r>
          </a:p>
          <a:p>
            <a:pPr lvl="1"/>
            <a:r>
              <a:rPr lang="en-US" sz="1500" dirty="0"/>
              <a:t>Which users show the highest calorie burn and active minutes?</a:t>
            </a:r>
          </a:p>
          <a:p>
            <a:pPr lvl="1"/>
            <a:r>
              <a:rPr lang="en-US" sz="1500" dirty="0"/>
              <a:t>What is the monthly trend of engagement levels?</a:t>
            </a:r>
          </a:p>
          <a:p>
            <a:pPr lvl="1"/>
            <a:r>
              <a:rPr lang="en-US" sz="1500" dirty="0"/>
              <a:t>How much of total distance remains untracked?</a:t>
            </a:r>
          </a:p>
        </p:txBody>
      </p:sp>
    </p:spTree>
    <p:extLst>
      <p:ext uri="{BB962C8B-B14F-4D97-AF65-F5344CB8AC3E}">
        <p14:creationId xmlns:p14="http://schemas.microsoft.com/office/powerpoint/2010/main" val="306539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D5F8-D0E4-975A-6783-C12BA7F4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2298-2736-F19C-21FB-BDE85EA3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  <a:endParaRPr lang="en-US" sz="1500" dirty="0"/>
          </a:p>
          <a:p>
            <a:pPr lvl="1"/>
            <a:r>
              <a:rPr lang="en-US" sz="1500" dirty="0"/>
              <a:t>April shows </a:t>
            </a:r>
            <a:r>
              <a:rPr lang="en-US" sz="1500" b="1" dirty="0"/>
              <a:t>highest activity &amp; calorie burn</a:t>
            </a:r>
            <a:r>
              <a:rPr lang="en-US" sz="1500" dirty="0"/>
              <a:t> among all months.</a:t>
            </a:r>
          </a:p>
          <a:p>
            <a:pPr lvl="1"/>
            <a:r>
              <a:rPr lang="en-US" sz="1500" b="1" dirty="0"/>
              <a:t>Young Adults (27.45%)</a:t>
            </a:r>
            <a:r>
              <a:rPr lang="en-US" sz="1500" dirty="0"/>
              <a:t> are the most engaged demographic.</a:t>
            </a:r>
          </a:p>
          <a:p>
            <a:pPr lvl="1"/>
            <a:r>
              <a:rPr lang="en-US" sz="1500" b="1" dirty="0"/>
              <a:t>Untracked Distance:</a:t>
            </a:r>
            <a:r>
              <a:rPr lang="en-US" sz="1500" dirty="0"/>
              <a:t> ~13.49 Km — indicates device off-time or missing syncs.</a:t>
            </a:r>
          </a:p>
          <a:p>
            <a:pPr lvl="1"/>
            <a:r>
              <a:rPr lang="en-US" sz="1500" b="1" dirty="0"/>
              <a:t>Active Minutes &amp; Distance</a:t>
            </a:r>
            <a:r>
              <a:rPr lang="en-US" sz="1500" dirty="0"/>
              <a:t> strongly correlate with </a:t>
            </a:r>
            <a:r>
              <a:rPr lang="en-US" sz="1500" b="1" dirty="0"/>
              <a:t>higher engagement levels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Few users (e.g., </a:t>
            </a:r>
            <a:r>
              <a:rPr lang="en-US" sz="1500" i="1" dirty="0"/>
              <a:t>Michael Brown, Andrew Garcia</a:t>
            </a:r>
            <a:r>
              <a:rPr lang="en-US" sz="1500" dirty="0"/>
              <a:t>) dominate activity metrics.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  <a:endParaRPr lang="en-US" sz="1500" dirty="0"/>
          </a:p>
          <a:p>
            <a:pPr lvl="1"/>
            <a:r>
              <a:rPr lang="en-US" sz="1500" dirty="0"/>
              <a:t>Monthly average active minutes gradually decline from May–December.</a:t>
            </a:r>
          </a:p>
          <a:p>
            <a:pPr lvl="1"/>
            <a:r>
              <a:rPr lang="en-US" sz="1500" dirty="0"/>
              <a:t>Low engagement spikes during months of reduced activity tracking.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94071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600" dirty="0"/>
              <a:t>User activity patterns show that engagement and consistency fluctuate across months and age groups. While a few users maintain strong calorie burn and active minutes, overall participation is highly seasonal.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Improving </a:t>
            </a:r>
            <a:r>
              <a:rPr lang="en-US" sz="1600" b="1" dirty="0"/>
              <a:t>data tracking accuracy</a:t>
            </a:r>
            <a:r>
              <a:rPr lang="en-US" sz="1600" dirty="0"/>
              <a:t>, encouraging </a:t>
            </a:r>
            <a:r>
              <a:rPr lang="en-US" sz="1600" b="1" dirty="0"/>
              <a:t>steady user engagement</a:t>
            </a:r>
            <a:r>
              <a:rPr lang="en-US" sz="1600" dirty="0"/>
              <a:t>, and tailoring </a:t>
            </a:r>
            <a:r>
              <a:rPr lang="en-US" sz="1600" b="1" dirty="0"/>
              <a:t>personalized fitness goals</a:t>
            </a:r>
            <a:r>
              <a:rPr lang="en-US" sz="1600" dirty="0"/>
              <a:t> can significantly enhance activity outcomes and platform adoption.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analysis highlights that </a:t>
            </a:r>
            <a:r>
              <a:rPr lang="en-US" sz="1600" b="1" dirty="0"/>
              <a:t>smart insights from wearables</a:t>
            </a:r>
            <a:r>
              <a:rPr lang="en-US" sz="1600" dirty="0"/>
              <a:t> can empower both users and health teams — driving informed decisions that promote healthier, more active lifestyles.</a:t>
            </a:r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Engagement Overview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6F94B-008A-E78F-ED85-C11E49B3F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Activity Performance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B3ECB2-D4E2-F23D-706A-B595057D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FE9C-DD75-14EE-DAC0-AFB172451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04"/>
            <a:ext cx="12192000" cy="5568696"/>
          </a:xfrm>
        </p:spPr>
        <p:txBody>
          <a:bodyPr>
            <a:norm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Enables </a:t>
            </a:r>
            <a:r>
              <a:rPr lang="en-US" altLang="en-US" sz="1500" b="1" dirty="0"/>
              <a:t>fitness app designers</a:t>
            </a:r>
            <a:r>
              <a:rPr lang="en-US" altLang="en-US" sz="1500" dirty="0"/>
              <a:t> to personalize activity goals and challenge levels based on user behavior trends.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Assists </a:t>
            </a:r>
            <a:r>
              <a:rPr lang="en-US" altLang="en-US" sz="1500" b="1" dirty="0"/>
              <a:t>health analysts</a:t>
            </a:r>
            <a:r>
              <a:rPr lang="en-US" altLang="en-US" sz="1500" dirty="0"/>
              <a:t> in identifying underperforming users and tailoring interventions for better wellness outcomes.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Helps </a:t>
            </a:r>
            <a:r>
              <a:rPr lang="en-US" altLang="en-US" sz="1500" b="1" dirty="0"/>
              <a:t>marketing teams</a:t>
            </a:r>
            <a:r>
              <a:rPr lang="en-US" altLang="en-US" sz="1500" dirty="0"/>
              <a:t> target users with low engagement levels through data-driven retention campaigns.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Supports </a:t>
            </a:r>
            <a:r>
              <a:rPr lang="en-US" altLang="en-US" sz="1500" b="1" dirty="0"/>
              <a:t>product teams</a:t>
            </a:r>
            <a:r>
              <a:rPr lang="en-US" altLang="en-US" sz="1500" dirty="0"/>
              <a:t> in enhancing engagement features such as streak tracking, goal reminders, and performance badges.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Guides </a:t>
            </a:r>
            <a:r>
              <a:rPr lang="en-US" altLang="en-US" sz="1500" b="1" dirty="0"/>
              <a:t>R&amp;D teams</a:t>
            </a:r>
            <a:r>
              <a:rPr lang="en-US" altLang="en-US" sz="1500" dirty="0"/>
              <a:t> to understand device usage and improve sensor accuracy or battery optimization.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Allows </a:t>
            </a:r>
            <a:r>
              <a:rPr lang="en-US" altLang="en-US" sz="1500" b="1" dirty="0"/>
              <a:t>business strategy teams</a:t>
            </a:r>
            <a:r>
              <a:rPr lang="en-US" altLang="en-US" sz="1500" dirty="0"/>
              <a:t> to measure the </a:t>
            </a:r>
            <a:r>
              <a:rPr lang="en-US" altLang="en-US" sz="1500" b="1" dirty="0"/>
              <a:t>impact of product adoption by neighborhood and demographic segment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Provides </a:t>
            </a:r>
            <a:r>
              <a:rPr lang="en-US" altLang="en-US" sz="1500" b="1" dirty="0"/>
              <a:t>leadership</a:t>
            </a:r>
            <a:r>
              <a:rPr lang="en-US" altLang="en-US" sz="1500" dirty="0"/>
              <a:t> with a comprehensive view of user engagement KPIs to drive </a:t>
            </a:r>
            <a:r>
              <a:rPr lang="en-US" altLang="en-US" sz="1500" b="1" dirty="0"/>
              <a:t>data-informed decision-making</a:t>
            </a:r>
            <a:r>
              <a:rPr lang="en-US" altLang="en-US" sz="1500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D4EB1-EC5B-B0B3-8334-6112BDBAB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60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1075</Words>
  <Application>Microsoft Office PowerPoint</Application>
  <PresentationFormat>Widescreen</PresentationFormat>
  <Paragraphs>125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FlexFit Health - Activity &amp; Wellness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Engagement Overview</vt:lpstr>
      <vt:lpstr>🖥️ Dashboard Overview (2) – Activity Performance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20</cp:revision>
  <dcterms:created xsi:type="dcterms:W3CDTF">2025-10-10T07:10:37Z</dcterms:created>
  <dcterms:modified xsi:type="dcterms:W3CDTF">2025-11-03T08:23:44Z</dcterms:modified>
</cp:coreProperties>
</file>