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1" r:id="rId3"/>
    <p:sldId id="257" r:id="rId4"/>
    <p:sldId id="259" r:id="rId5"/>
    <p:sldId id="260" r:id="rId6"/>
    <p:sldId id="272" r:id="rId7"/>
    <p:sldId id="263" r:id="rId8"/>
    <p:sldId id="265" r:id="rId9"/>
    <p:sldId id="262" r:id="rId10"/>
    <p:sldId id="273" r:id="rId11"/>
    <p:sldId id="264" r:id="rId12"/>
    <p:sldId id="270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5CF1F-F9A3-4EFC-825C-53D69F984385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831917-29C8-4BC7-957C-F11257860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02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610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76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7CF-3689-70DD-CB28-AAE1111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1CE79-C9C7-BB25-EF2A-10D005847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502CA-5B96-CB8A-20AE-3906E8C3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4E639-AD7E-574C-C9E9-F5B43490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CD176-E79D-6844-CB60-E7C78B681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80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97AB7-A55C-0B82-FAED-B7E332320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41BAA-D510-ABB0-901D-0FAB309B0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12E59-3B88-F398-664D-3985AEA37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125EA-93FA-07C0-7322-40260FD5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5D02C-4A2F-1824-59A1-7983E4498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5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BFFE9-1FD7-F63D-6439-1E27142E8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D7795-663E-05D7-5AD6-EDE501C60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8FD33-591E-4820-A128-A94F0B33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73559-082C-1927-2A99-DB0902A7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344-A764-7087-642A-130D4BD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584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862F8-3E12-F92D-405F-D6F538733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0E924-67EF-C4F4-CBC4-3BA853B515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F2A22-3AA1-9209-180C-ACD5CAE43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B6BA27-B2FD-C446-BEC7-8C46DD9B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8349FC-F9E9-C312-F4C6-8D6D604F9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505D3-5917-4780-1633-FE4FD211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07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271D-B1D1-D670-316D-2468EC1F2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281C9-A6B4-72BB-6420-63D0C9FB8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F6D81-DC99-1889-9E64-F6033F06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58B6AD-9212-7FEB-CFE3-F3E14CFE62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93A19-BA01-CA22-F22E-732EFB0CE9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AFDF2F-88B4-F652-05E4-CA5A375F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DAF91B-DD72-2AA0-29EB-85B63003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67C143-07DD-21D1-88BC-58DBC3BE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18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502C-7C07-3A37-3440-CFE6877C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34A65-9ABA-A4CB-2DD7-5CB25ECE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497960-613F-64A1-9E19-FCAF8E81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E4B99-D02C-E34A-900E-401B4D530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2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203A9-34DF-1A1A-0FAE-6315B9509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D59CC-1CEE-6108-18C9-364D0D30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AA34D-CFA4-C5D3-2E13-D88629799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5679-E51D-0CCA-C05C-4463EE16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97ADE-E05C-21F4-DCE0-A14C75F5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D3006-CFC8-B856-9620-E3B6D8BE98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F8152A-8351-B7BE-2FF4-ECFD17E11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8D4CE-EDF4-0C77-DFBD-B16DB10CC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EC1D1-D55C-A862-30A7-9C883B68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13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72F1-FAF3-F6B1-75BE-9D89225C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0378F-FD1A-2C35-6AE0-CE2E78A7A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C9C7-AA5D-5148-E367-145C76EB9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CB853-5ABE-2552-6205-942FD79D3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29388-4C49-BE88-B847-EE920D61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43087-2BB3-A704-D22E-D242C721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27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B142C-5EF6-2436-9786-E5975AD47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D4508B-5FD2-4D1F-FD73-B24651E21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65CB0-E5BC-47F5-6035-DBCFE4349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F356D-EF3B-C45C-A827-E6901EAFD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5E016-DF99-DC44-C6F3-B22839CB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8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7D9BCE-A0F0-4C4F-1D8F-DC958C87F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F0D40-AC43-C1C8-5C8B-94D803BC0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B8351-C7F1-1407-53B1-FD03FFC3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0FF2-A8E9-E359-37B4-ED45884B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22B75-6ECC-17A2-20CE-2675B3D9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2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F13E8-0655-D862-8DF0-C1E93F72E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BFED0-7C94-95B8-C497-12C513EF1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737FD-4D5B-4F88-10A6-46C987B1D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CA240-4DCA-41BB-A29D-1D0DE405E1C9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67536-CC95-FFEB-5C32-E7F7DA66E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86531-DCEC-0275-6210-63850CEAF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59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D8680-A25A-D894-2D56-B1731FC78D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73152" y="1618488"/>
            <a:ext cx="12070080" cy="99669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FlexFit Health - Activity &amp; Wellness Analysis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EA40268-244F-926E-D357-3F80868EF7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15184"/>
            <a:ext cx="9713976" cy="2642616"/>
          </a:xfrm>
        </p:spPr>
        <p:txBody>
          <a:bodyPr/>
          <a:lstStyle/>
          <a:p>
            <a:pPr algn="r"/>
            <a:r>
              <a:rPr lang="en-US" b="1" dirty="0"/>
              <a:t>- A Data Analytics Case Study by Anik Chakraborty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08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FCD89-E115-DC5F-B45A-2CDD4CDC4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94FB80-F047-4A14-4B1A-FB0EE0D09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07008"/>
            <a:ext cx="12192000" cy="56509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Analyze and interpret </a:t>
            </a:r>
            <a:r>
              <a:rPr lang="en-US" sz="1500" b="1" dirty="0"/>
              <a:t>FlexFit Health’s wearable activity data</a:t>
            </a:r>
            <a:r>
              <a:rPr lang="en-US" sz="1500" dirty="0"/>
              <a:t> to uncover actionable insights that drive </a:t>
            </a:r>
            <a:r>
              <a:rPr lang="en-US" sz="1500" b="1" dirty="0"/>
              <a:t>user engagement, product optimization, and wellness outcomes</a:t>
            </a:r>
            <a:r>
              <a:rPr lang="en-US" sz="1500" dirty="0"/>
              <a:t>.</a:t>
            </a:r>
            <a:br>
              <a:rPr lang="en-US" sz="1500" b="1" dirty="0"/>
            </a:br>
            <a:br>
              <a:rPr lang="en-US" sz="1500" b="1" dirty="0"/>
            </a:b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Project Purpose:</a:t>
            </a:r>
          </a:p>
          <a:p>
            <a:pPr lvl="1"/>
            <a:r>
              <a:rPr lang="en-US" sz="1500" dirty="0"/>
              <a:t>Assess how active users are across months and activity types.</a:t>
            </a:r>
          </a:p>
          <a:p>
            <a:pPr lvl="1"/>
            <a:r>
              <a:rPr lang="en-US" sz="1500" dirty="0"/>
              <a:t>Identify engagement patterns based on distance, minutes, and calories burned.</a:t>
            </a:r>
          </a:p>
          <a:p>
            <a:pPr lvl="1"/>
            <a:r>
              <a:rPr lang="en-US" sz="1500" dirty="0"/>
              <a:t>Provide insights to improve </a:t>
            </a:r>
            <a:r>
              <a:rPr lang="en-US" sz="1500" b="1" dirty="0"/>
              <a:t>user motivation and fitness app performance.</a:t>
            </a:r>
            <a:endParaRPr lang="en-US" sz="1500" dirty="0"/>
          </a:p>
          <a:p>
            <a:pPr marL="0" indent="0">
              <a:buNone/>
            </a:pPr>
            <a:br>
              <a:rPr lang="en-US" sz="1500" b="1" dirty="0"/>
            </a:br>
            <a:r>
              <a:rPr lang="en-US" sz="1500" b="1" dirty="0"/>
              <a:t>Key KPIs:</a:t>
            </a:r>
          </a:p>
          <a:p>
            <a:pPr lvl="1"/>
            <a:r>
              <a:rPr lang="en-US" sz="1500" b="1" dirty="0"/>
              <a:t>Total Users:</a:t>
            </a:r>
            <a:r>
              <a:rPr lang="en-US" sz="1500" dirty="0"/>
              <a:t> 33</a:t>
            </a:r>
          </a:p>
          <a:p>
            <a:pPr lvl="1"/>
            <a:r>
              <a:rPr lang="en-US" sz="1500" b="1" dirty="0"/>
              <a:t>Total Duration:</a:t>
            </a:r>
            <a:r>
              <a:rPr lang="en-US" sz="1500" dirty="0"/>
              <a:t> 11 Months</a:t>
            </a:r>
          </a:p>
          <a:p>
            <a:pPr lvl="1"/>
            <a:r>
              <a:rPr lang="en-US" sz="1500" b="1" dirty="0"/>
              <a:t>Average Calories Burned:</a:t>
            </a:r>
            <a:r>
              <a:rPr lang="en-US" sz="1500" dirty="0"/>
              <a:t> 2.30K</a:t>
            </a:r>
          </a:p>
          <a:p>
            <a:pPr lvl="1"/>
            <a:r>
              <a:rPr lang="en-US" sz="1500" b="1" dirty="0"/>
              <a:t>Average Steps:</a:t>
            </a:r>
            <a:r>
              <a:rPr lang="en-US" sz="1500" dirty="0"/>
              <a:t> 7.64K</a:t>
            </a:r>
          </a:p>
          <a:p>
            <a:pPr lvl="1"/>
            <a:r>
              <a:rPr lang="en-US" sz="1500" b="1" dirty="0"/>
              <a:t>Average Active Minutes:</a:t>
            </a:r>
            <a:r>
              <a:rPr lang="en-US" sz="1500" dirty="0"/>
              <a:t> 227.54</a:t>
            </a:r>
          </a:p>
          <a:p>
            <a:pPr lvl="1"/>
            <a:r>
              <a:rPr lang="en-US" sz="1500" b="1" dirty="0"/>
              <a:t>Untracked Distance:</a:t>
            </a:r>
            <a:r>
              <a:rPr lang="en-US" sz="1500" dirty="0"/>
              <a:t> 13.49 Km</a:t>
            </a:r>
          </a:p>
          <a:p>
            <a:pPr lvl="1"/>
            <a:r>
              <a:rPr lang="en-US" sz="1500" b="1" dirty="0"/>
              <a:t>Active Days:</a:t>
            </a:r>
            <a:r>
              <a:rPr lang="en-US" sz="1500" dirty="0"/>
              <a:t> 864 | </a:t>
            </a:r>
            <a:r>
              <a:rPr lang="en-US" sz="1500" b="1" dirty="0"/>
              <a:t>Inactive Days:</a:t>
            </a:r>
            <a:r>
              <a:rPr lang="en-US" sz="1500" dirty="0"/>
              <a:t> 76</a:t>
            </a:r>
          </a:p>
          <a:p>
            <a:pPr marL="0" indent="0">
              <a:buNone/>
            </a:pPr>
            <a:br>
              <a:rPr lang="en-US" sz="1500" b="1" dirty="0"/>
            </a:br>
            <a:r>
              <a:rPr lang="en-US" sz="1500" b="1" dirty="0"/>
              <a:t>Deliverables:</a:t>
            </a:r>
          </a:p>
          <a:p>
            <a:pPr lvl="1"/>
            <a:r>
              <a:rPr lang="en-US" sz="1500" dirty="0"/>
              <a:t>Interactive </a:t>
            </a:r>
            <a:r>
              <a:rPr lang="en-US" sz="1500" b="1" dirty="0"/>
              <a:t>Power BI dashboard</a:t>
            </a:r>
            <a:r>
              <a:rPr lang="en-US" sz="1500" dirty="0"/>
              <a:t> showing user activity &amp; wellness patterns.</a:t>
            </a:r>
          </a:p>
          <a:p>
            <a:pPr lvl="1"/>
            <a:r>
              <a:rPr lang="en-US" sz="1500" dirty="0"/>
              <a:t>Detailed analysis on </a:t>
            </a:r>
            <a:r>
              <a:rPr lang="en-US" sz="1500" b="1" dirty="0"/>
              <a:t>engagement trends and activity performance</a:t>
            </a:r>
            <a:r>
              <a:rPr lang="en-US" sz="1500" dirty="0"/>
              <a:t>.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739674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D255-8A6B-C4FC-2D8B-3BAAE323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42416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B47DC-FB9B-EBC9-396C-9B7FFC844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0783"/>
            <a:ext cx="12192000" cy="515721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Context Highlights :</a:t>
            </a:r>
          </a:p>
          <a:p>
            <a:pPr marL="0" indent="0">
              <a:buNone/>
            </a:pPr>
            <a:r>
              <a:rPr lang="en-US" sz="1500" dirty="0"/>
              <a:t>The analysis helps FlexFit Health’s </a:t>
            </a:r>
            <a:r>
              <a:rPr lang="en-US" sz="1500" b="1" dirty="0"/>
              <a:t>marketing, R&amp;D, and product teams</a:t>
            </a:r>
            <a:r>
              <a:rPr lang="en-US" sz="1500" dirty="0"/>
              <a:t> understand:</a:t>
            </a:r>
          </a:p>
          <a:p>
            <a:pPr lvl="1"/>
            <a:r>
              <a:rPr lang="en-US" sz="1500" dirty="0"/>
              <a:t>How users engage with fitness trackers</a:t>
            </a:r>
          </a:p>
          <a:p>
            <a:pPr lvl="1"/>
            <a:r>
              <a:rPr lang="en-US" sz="1500" dirty="0"/>
              <a:t>Which neighborhoods are most active</a:t>
            </a:r>
          </a:p>
          <a:p>
            <a:pPr lvl="1"/>
            <a:r>
              <a:rPr lang="en-US" sz="1500" dirty="0"/>
              <a:t>Relationships between </a:t>
            </a:r>
            <a:r>
              <a:rPr lang="en-US" sz="1500" b="1" dirty="0"/>
              <a:t>steps, calories, and active minutes</a:t>
            </a:r>
            <a:endParaRPr lang="en-US" sz="1500" dirty="0"/>
          </a:p>
          <a:p>
            <a:pPr lvl="1"/>
            <a:r>
              <a:rPr lang="en-US" sz="1500" dirty="0"/>
              <a:t>How activity varies by </a:t>
            </a:r>
            <a:r>
              <a:rPr lang="en-US" sz="1500" b="1" dirty="0"/>
              <a:t>age, location, and time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/>
              <a:t>Using </a:t>
            </a:r>
            <a:r>
              <a:rPr lang="en-US" sz="1500" b="1" dirty="0"/>
              <a:t>Excel, Power Query, and Power BI</a:t>
            </a:r>
            <a:r>
              <a:rPr lang="en-US" sz="1500" dirty="0"/>
              <a:t>, the project transforms raw activity data into an </a:t>
            </a:r>
            <a:r>
              <a:rPr lang="en-US" sz="1500" b="1" dirty="0"/>
              <a:t>interactive dashboard</a:t>
            </a:r>
            <a:r>
              <a:rPr lang="en-US" sz="1500" dirty="0"/>
              <a:t> that visualizes key metrics and trends — driving </a:t>
            </a:r>
            <a:r>
              <a:rPr lang="en-US" sz="1500" b="1" dirty="0"/>
              <a:t>data-informed wellness strategies</a:t>
            </a:r>
            <a:r>
              <a:rPr lang="en-US" sz="1500" dirty="0"/>
              <a:t> and enhanced </a:t>
            </a:r>
            <a:r>
              <a:rPr lang="en-US" sz="1500" b="1" dirty="0"/>
              <a:t>user engagement</a:t>
            </a:r>
            <a:r>
              <a:rPr lang="en-US" sz="15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3996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45DA7-F0EC-0E1E-B49D-9F24538EF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🗂️ </a:t>
            </a:r>
            <a:r>
              <a:rPr lang="en-US" b="1" dirty="0"/>
              <a:t>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DE161-AF90-4BCF-0DB6-011AB0582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3312"/>
            <a:ext cx="12192000" cy="55046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Fictionalized fitness tracking dataset provided by </a:t>
            </a:r>
            <a:r>
              <a:rPr lang="en-US" sz="1500" b="1" dirty="0"/>
              <a:t>FlexFit Health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Data Type:</a:t>
            </a:r>
            <a:r>
              <a:rPr lang="en-US" sz="1500" dirty="0"/>
              <a:t> Structured user profiles and daily activity logs captured via FlexFit smart devices.</a:t>
            </a:r>
          </a:p>
          <a:p>
            <a:pPr lvl="1"/>
            <a:r>
              <a:rPr lang="en-US" sz="1500" b="1" dirty="0"/>
              <a:t>Time Period:</a:t>
            </a:r>
            <a:r>
              <a:rPr lang="en-US" sz="1500" dirty="0"/>
              <a:t> Continuous daily activity tracking snapshot for the year </a:t>
            </a:r>
            <a:r>
              <a:rPr lang="en-US" sz="1500" b="1"/>
              <a:t>2016</a:t>
            </a:r>
            <a:r>
              <a:rPr lang="en-US" sz="1500"/>
              <a:t>.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  <a:endParaRPr lang="en-US" sz="1500" dirty="0"/>
          </a:p>
          <a:p>
            <a:pPr lvl="1"/>
            <a:r>
              <a:rPr lang="en-US" sz="1500" b="1" dirty="0"/>
              <a:t>Key Index Types:</a:t>
            </a:r>
            <a:r>
              <a:rPr lang="en-US" sz="1500" dirty="0"/>
              <a:t> User-level records in the </a:t>
            </a:r>
            <a:r>
              <a:rPr lang="en-US" sz="1500" i="1" dirty="0"/>
              <a:t>User Details</a:t>
            </a:r>
            <a:r>
              <a:rPr lang="en-US" sz="1500" dirty="0"/>
              <a:t> dataset and date-level activity logs in the </a:t>
            </a:r>
            <a:r>
              <a:rPr lang="en-US" sz="1500" i="1" dirty="0"/>
              <a:t>Activity</a:t>
            </a:r>
            <a:r>
              <a:rPr lang="en-US" sz="1500" dirty="0"/>
              <a:t> dataset.</a:t>
            </a:r>
          </a:p>
          <a:p>
            <a:pPr lvl="1"/>
            <a:r>
              <a:rPr lang="en-US" sz="1500" b="1" dirty="0"/>
              <a:t>Total Rows:</a:t>
            </a:r>
            <a:r>
              <a:rPr lang="en-US" sz="1500" dirty="0"/>
              <a:t> Users – </a:t>
            </a:r>
            <a:r>
              <a:rPr lang="en-US" sz="1500" b="1" dirty="0"/>
              <a:t>58</a:t>
            </a:r>
            <a:r>
              <a:rPr lang="en-US" sz="1500" dirty="0"/>
              <a:t>, Activity Logs – </a:t>
            </a:r>
            <a:r>
              <a:rPr lang="en-US" sz="1500" b="1" dirty="0"/>
              <a:t>~10,000+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Categories:</a:t>
            </a:r>
            <a:r>
              <a:rPr lang="en-US" sz="1500" dirty="0"/>
              <a:t> Around 15+ features across three main segments:</a:t>
            </a:r>
          </a:p>
          <a:p>
            <a:pPr lvl="2"/>
            <a:r>
              <a:rPr lang="en-US" sz="1500" b="1" dirty="0"/>
              <a:t>Demographics:</a:t>
            </a:r>
            <a:r>
              <a:rPr lang="en-US" sz="1500" dirty="0"/>
              <a:t> First Name, Last Name, Age, Address, Neighborhood, Date</a:t>
            </a:r>
          </a:p>
          <a:p>
            <a:pPr lvl="2"/>
            <a:r>
              <a:rPr lang="en-US" sz="1500" b="1" dirty="0"/>
              <a:t>Performance Indicators:</a:t>
            </a:r>
            <a:r>
              <a:rPr lang="en-US" sz="1500" dirty="0"/>
              <a:t> Total vs. Tracker Distance, Logged Activity Distance, and Active Minutes split</a:t>
            </a:r>
          </a:p>
          <a:p>
            <a:pPr lvl="1"/>
            <a:r>
              <a:rPr lang="en-US" sz="1500" b="1" dirty="0"/>
              <a:t>Calculated Metrics:</a:t>
            </a:r>
            <a:r>
              <a:rPr lang="en-US" sz="1500" dirty="0"/>
              <a:t> Derived fields using </a:t>
            </a:r>
            <a:r>
              <a:rPr lang="en-US" sz="1500" b="1" dirty="0"/>
              <a:t>custom DAX measure</a:t>
            </a:r>
            <a:r>
              <a:rPr lang="en-US" sz="1500" dirty="0"/>
              <a:t> for Power BI insights.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/>
              <a:t>Activity metrics:</a:t>
            </a:r>
            <a:r>
              <a:rPr lang="en-US" altLang="en-US" sz="1500" dirty="0"/>
              <a:t> Steps, Distance, Active Minutes (Light, Fairly, Very)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/>
              <a:t>Derived metrics:</a:t>
            </a:r>
            <a:r>
              <a:rPr lang="en-US" altLang="en-US" sz="1500" dirty="0"/>
              <a:t> Total Calories Burned,  Engagement Level, Tracker Distance, Untracked Distance, </a:t>
            </a:r>
            <a:r>
              <a:rPr lang="en-US" sz="1500" dirty="0"/>
              <a:t>Total Active Time, Activity Intensity Score</a:t>
            </a:r>
            <a:endParaRPr lang="en-US" altLang="en-US" sz="1500" dirty="0"/>
          </a:p>
        </p:txBody>
      </p:sp>
    </p:spTree>
    <p:extLst>
      <p:ext uri="{BB962C8B-B14F-4D97-AF65-F5344CB8AC3E}">
        <p14:creationId xmlns:p14="http://schemas.microsoft.com/office/powerpoint/2010/main" val="3827167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11E3-A2A8-7794-5F23-FB02F995C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62CC4-E061-AD0B-12AC-E03566054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" y="1536192"/>
            <a:ext cx="12192000" cy="5303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</a:t>
            </a:r>
            <a:endParaRPr lang="en-US" sz="1500" dirty="0"/>
          </a:p>
          <a:p>
            <a:pPr lvl="2"/>
            <a:r>
              <a:rPr lang="en-US" sz="1500" dirty="0"/>
              <a:t>Data cleaning &amp; preprocessing</a:t>
            </a:r>
            <a:endParaRPr lang="en-US" sz="1500" b="1" dirty="0"/>
          </a:p>
          <a:p>
            <a:pPr lvl="1"/>
            <a:r>
              <a:rPr lang="en-US" sz="1500" b="1" dirty="0"/>
              <a:t>PowerQuery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ETL transformations</a:t>
            </a:r>
            <a:endParaRPr lang="en-US" sz="1500" b="1" dirty="0"/>
          </a:p>
          <a:p>
            <a:pPr lvl="1"/>
            <a:r>
              <a:rPr lang="en-US" sz="1500" b="1" dirty="0"/>
              <a:t>PowerBI</a:t>
            </a:r>
          </a:p>
          <a:p>
            <a:pPr lvl="2"/>
            <a:r>
              <a:rPr lang="en-US" sz="1500" dirty="0"/>
              <a:t>Visualization, DAX measures &amp; dashboard design</a:t>
            </a:r>
          </a:p>
          <a:p>
            <a:pPr lvl="2"/>
            <a:r>
              <a:rPr lang="en-US" sz="1500" b="1" dirty="0"/>
              <a:t>DAX</a:t>
            </a:r>
            <a:r>
              <a:rPr lang="en-US" sz="1500" dirty="0"/>
              <a:t> – Calculated measures and time intelligence</a:t>
            </a:r>
            <a:br>
              <a:rPr lang="en-US" sz="1500" dirty="0"/>
            </a:br>
            <a:endParaRPr lang="en-US" sz="1500" dirty="0"/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</p:txBody>
      </p:sp>
    </p:spTree>
    <p:extLst>
      <p:ext uri="{BB962C8B-B14F-4D97-AF65-F5344CB8AC3E}">
        <p14:creationId xmlns:p14="http://schemas.microsoft.com/office/powerpoint/2010/main" val="4132828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941B6-B3B2-523E-A6EE-541D84834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9303"/>
          </a:xfrm>
        </p:spPr>
        <p:txBody>
          <a:bodyPr/>
          <a:lstStyle/>
          <a:p>
            <a:r>
              <a:rPr lang="en-US" dirty="0"/>
              <a:t>📈 </a:t>
            </a:r>
            <a:r>
              <a:rPr lang="en-US" b="1" dirty="0"/>
              <a:t>Methodology &amp;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635A2-BF86-574F-A84C-1D37A0008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Preparation, Process &amp; Analytical Approach:</a:t>
            </a:r>
            <a:endParaRPr lang="en-US" sz="1500" dirty="0"/>
          </a:p>
          <a:p>
            <a:pPr lvl="1"/>
            <a:r>
              <a:rPr lang="en-US" sz="1500" b="1" dirty="0"/>
              <a:t>Data Preparation &amp; Cleaning</a:t>
            </a:r>
            <a:endParaRPr lang="en-US" sz="1500" dirty="0"/>
          </a:p>
          <a:p>
            <a:pPr lvl="2"/>
            <a:r>
              <a:rPr lang="en-US" sz="1500" dirty="0"/>
              <a:t>Handled missing and inconsistent activity logs.</a:t>
            </a:r>
          </a:p>
          <a:p>
            <a:pPr lvl="2"/>
            <a:r>
              <a:rPr lang="en-US" sz="1500" dirty="0"/>
              <a:t>Standardized numeric fields and validated record accuracy.</a:t>
            </a:r>
          </a:p>
          <a:p>
            <a:pPr lvl="2"/>
            <a:r>
              <a:rPr lang="en-US" sz="1500" dirty="0"/>
              <a:t>Merged datasets via </a:t>
            </a:r>
            <a:r>
              <a:rPr lang="en-US" sz="1500" b="1" dirty="0"/>
              <a:t>User ID</a:t>
            </a:r>
            <a:r>
              <a:rPr lang="en-US" sz="1500" dirty="0"/>
              <a:t> to build a unified analytical model.</a:t>
            </a:r>
          </a:p>
          <a:p>
            <a:pPr lvl="1"/>
            <a:r>
              <a:rPr lang="en-US" sz="1500" b="1" dirty="0"/>
              <a:t>Data Modeling &amp; Integration</a:t>
            </a:r>
            <a:endParaRPr lang="en-US" sz="1500" dirty="0"/>
          </a:p>
          <a:p>
            <a:pPr lvl="2"/>
            <a:r>
              <a:rPr lang="en-US" sz="1500" dirty="0"/>
              <a:t>Established </a:t>
            </a:r>
            <a:r>
              <a:rPr lang="en-US" sz="1500" b="1" dirty="0"/>
              <a:t>User → Date → Activity</a:t>
            </a:r>
            <a:r>
              <a:rPr lang="en-US" sz="1500" dirty="0"/>
              <a:t> relationships.</a:t>
            </a:r>
          </a:p>
          <a:p>
            <a:pPr lvl="2"/>
            <a:r>
              <a:rPr lang="en-US" sz="1500" dirty="0"/>
              <a:t>Ensured </a:t>
            </a:r>
            <a:r>
              <a:rPr lang="en-US" sz="1500" b="1" dirty="0"/>
              <a:t>one-to-many integrity</a:t>
            </a:r>
            <a:r>
              <a:rPr lang="en-US" sz="1500" dirty="0"/>
              <a:t> (1 user → many activity records).</a:t>
            </a:r>
          </a:p>
          <a:p>
            <a:pPr lvl="1"/>
            <a:r>
              <a:rPr lang="en-US" sz="1500" b="1" dirty="0"/>
              <a:t>Feature Engineering</a:t>
            </a:r>
            <a:endParaRPr lang="en-US" sz="1500" dirty="0"/>
          </a:p>
          <a:p>
            <a:pPr lvl="2"/>
            <a:r>
              <a:rPr lang="en-US" sz="1500" dirty="0"/>
              <a:t>Derived new measures: </a:t>
            </a:r>
            <a:r>
              <a:rPr lang="en-US" sz="1500" b="1" dirty="0"/>
              <a:t>Active Minutes</a:t>
            </a:r>
            <a:r>
              <a:rPr lang="en-US" sz="1500" dirty="0"/>
              <a:t>, </a:t>
            </a:r>
            <a:r>
              <a:rPr lang="en-US" sz="1500" b="1" dirty="0"/>
              <a:t>Engagement Type</a:t>
            </a:r>
            <a:r>
              <a:rPr lang="en-US" sz="1500" dirty="0"/>
              <a:t>, and </a:t>
            </a:r>
            <a:r>
              <a:rPr lang="en-US" sz="1500" b="1" dirty="0"/>
              <a:t>Untracked Distance</a:t>
            </a:r>
            <a:r>
              <a:rPr lang="en-US" sz="1500" dirty="0"/>
              <a:t>.</a:t>
            </a:r>
          </a:p>
          <a:p>
            <a:pPr lvl="2"/>
            <a:r>
              <a:rPr lang="en-US" sz="1500" dirty="0"/>
              <a:t>Split </a:t>
            </a:r>
            <a:r>
              <a:rPr lang="en-US" sz="1500" b="1" dirty="0"/>
              <a:t>Address → Neighborhood</a:t>
            </a:r>
            <a:r>
              <a:rPr lang="en-US" sz="1500" dirty="0"/>
              <a:t> using Power Query for location insights.</a:t>
            </a:r>
          </a:p>
          <a:p>
            <a:pPr lvl="1"/>
            <a:r>
              <a:rPr lang="en-US" sz="1500" b="1" dirty="0"/>
              <a:t>Visualization Design</a:t>
            </a:r>
            <a:endParaRPr lang="en-US" sz="1500" dirty="0"/>
          </a:p>
          <a:p>
            <a:pPr lvl="2"/>
            <a:r>
              <a:rPr lang="en-US" sz="1500" dirty="0"/>
              <a:t>Built two interactive dashboards:</a:t>
            </a:r>
            <a:br>
              <a:rPr lang="en-US" sz="1500" dirty="0"/>
            </a:br>
            <a:r>
              <a:rPr lang="en-US" sz="1500" dirty="0"/>
              <a:t>	• </a:t>
            </a:r>
            <a:r>
              <a:rPr lang="en-US" sz="1500" i="1" dirty="0"/>
              <a:t>Engagement Overview</a:t>
            </a:r>
            <a:br>
              <a:rPr lang="en-US" sz="1500" i="1" dirty="0"/>
            </a:br>
            <a:r>
              <a:rPr lang="en-US" sz="1500" i="1" dirty="0"/>
              <a:t>	• Activity Performance</a:t>
            </a:r>
          </a:p>
          <a:p>
            <a:pPr lvl="2"/>
            <a:r>
              <a:rPr lang="en-US" sz="1500" dirty="0"/>
              <a:t>Applied synchronized </a:t>
            </a:r>
            <a:r>
              <a:rPr lang="en-US" sz="1500" b="1" dirty="0"/>
              <a:t>slicers</a:t>
            </a:r>
            <a:r>
              <a:rPr lang="en-US" sz="1500" dirty="0"/>
              <a:t> for Age Group, User, and Timeframe filters.</a:t>
            </a:r>
          </a:p>
          <a:p>
            <a:pPr lvl="1"/>
            <a:r>
              <a:rPr lang="en-US" sz="1500" b="1" dirty="0"/>
              <a:t>Data Validation &amp; Formatting</a:t>
            </a:r>
            <a:endParaRPr lang="en-US" sz="1500" dirty="0"/>
          </a:p>
          <a:p>
            <a:pPr lvl="2"/>
            <a:r>
              <a:rPr lang="en-US" sz="1500" dirty="0"/>
              <a:t>Verified data consistency across all relationships.</a:t>
            </a:r>
          </a:p>
          <a:p>
            <a:pPr lvl="2"/>
            <a:r>
              <a:rPr lang="en-US" sz="1500" dirty="0"/>
              <a:t>Standardized </a:t>
            </a:r>
            <a:r>
              <a:rPr lang="en-US" sz="1500" b="1" dirty="0"/>
              <a:t>date formats</a:t>
            </a:r>
            <a:r>
              <a:rPr lang="en-US" sz="1500" dirty="0"/>
              <a:t>, </a:t>
            </a:r>
            <a:r>
              <a:rPr lang="en-US" sz="1500" b="1" dirty="0"/>
              <a:t>distance units (KM)</a:t>
            </a:r>
            <a:r>
              <a:rPr lang="en-US" sz="1500" dirty="0"/>
              <a:t>, and </a:t>
            </a:r>
            <a:r>
              <a:rPr lang="en-US" sz="1500" b="1" dirty="0"/>
              <a:t>column names</a:t>
            </a:r>
            <a:r>
              <a:rPr lang="en-US" sz="1500" dirty="0"/>
              <a:t> for Power BI readiness.</a:t>
            </a:r>
          </a:p>
          <a:p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181986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2F99D-A532-6D29-9A7D-0D9247026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7280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D1A5F-1080-308A-17D4-EE93E2192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2768"/>
            <a:ext cx="12192000" cy="52852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FlexFit Health, a next-generation fitness technology company, provides smart wearables that track users’ daily movements, calories burned, and overall activity levels.</a:t>
            </a:r>
          </a:p>
          <a:p>
            <a:pPr marL="0" indent="0">
              <a:buNone/>
            </a:pPr>
            <a:br>
              <a:rPr lang="en-US" sz="1500" dirty="0"/>
            </a:br>
            <a:r>
              <a:rPr lang="en-US" sz="1500" dirty="0"/>
              <a:t>This project analyzes daily user-level activity data from </a:t>
            </a:r>
            <a:r>
              <a:rPr lang="en-US" sz="1500" b="1" dirty="0"/>
              <a:t>New York City residents (Brooklyn &amp; Manhattan) over an 11-month period </a:t>
            </a:r>
            <a:r>
              <a:rPr lang="en-US" sz="1500" dirty="0"/>
              <a:t>to explore user engagement, fitness behaviors, and wellness outcomes.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Questions:</a:t>
            </a:r>
            <a:endParaRPr lang="en-US" sz="1500" dirty="0"/>
          </a:p>
          <a:p>
            <a:pPr lvl="1"/>
            <a:r>
              <a:rPr lang="en-US" sz="1500" dirty="0"/>
              <a:t>How active are users across different months and age groups?</a:t>
            </a:r>
          </a:p>
          <a:p>
            <a:pPr lvl="1"/>
            <a:r>
              <a:rPr lang="en-US" sz="1500" dirty="0"/>
              <a:t>Which users show the highest calorie burn and active minutes?</a:t>
            </a:r>
          </a:p>
          <a:p>
            <a:pPr lvl="1"/>
            <a:r>
              <a:rPr lang="en-US" sz="1500" dirty="0"/>
              <a:t>What is the monthly trend of engagement levels?</a:t>
            </a:r>
          </a:p>
          <a:p>
            <a:pPr lvl="1"/>
            <a:r>
              <a:rPr lang="en-US" sz="1500" dirty="0"/>
              <a:t>How much of total distance remains untracked?</a:t>
            </a:r>
          </a:p>
        </p:txBody>
      </p:sp>
    </p:spTree>
    <p:extLst>
      <p:ext uri="{BB962C8B-B14F-4D97-AF65-F5344CB8AC3E}">
        <p14:creationId xmlns:p14="http://schemas.microsoft.com/office/powerpoint/2010/main" val="3065399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CD5F8-D0E4-975A-6783-C12BA7F4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F2298-2736-F19C-21FB-BDE85EA3CA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93976"/>
            <a:ext cx="12192000" cy="47640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Top Findings:</a:t>
            </a:r>
            <a:endParaRPr lang="en-US" sz="1500" dirty="0"/>
          </a:p>
          <a:p>
            <a:pPr lvl="1"/>
            <a:r>
              <a:rPr lang="en-US" sz="1500" dirty="0"/>
              <a:t>April shows </a:t>
            </a:r>
            <a:r>
              <a:rPr lang="en-US" sz="1500" b="1" dirty="0"/>
              <a:t>highest activity &amp; calorie burn</a:t>
            </a:r>
            <a:r>
              <a:rPr lang="en-US" sz="1500" dirty="0"/>
              <a:t> among all months.</a:t>
            </a:r>
          </a:p>
          <a:p>
            <a:pPr lvl="1"/>
            <a:r>
              <a:rPr lang="en-US" sz="1500" b="1" dirty="0"/>
              <a:t>Young Adults (27.45%)</a:t>
            </a:r>
            <a:r>
              <a:rPr lang="en-US" sz="1500" dirty="0"/>
              <a:t> are the most engaged demographic.</a:t>
            </a:r>
          </a:p>
          <a:p>
            <a:pPr lvl="1"/>
            <a:r>
              <a:rPr lang="en-US" sz="1500" b="1" dirty="0"/>
              <a:t>Untracked Distance:</a:t>
            </a:r>
            <a:r>
              <a:rPr lang="en-US" sz="1500" dirty="0"/>
              <a:t> ~13.49 Km — indicates device off-time or missing syncs.</a:t>
            </a:r>
          </a:p>
          <a:p>
            <a:pPr lvl="1"/>
            <a:r>
              <a:rPr lang="en-US" sz="1500" b="1" dirty="0"/>
              <a:t>Active Minutes &amp; Distance</a:t>
            </a:r>
            <a:r>
              <a:rPr lang="en-US" sz="1500" dirty="0"/>
              <a:t> strongly correlate with </a:t>
            </a:r>
            <a:r>
              <a:rPr lang="en-US" sz="1500" b="1" dirty="0"/>
              <a:t>higher engagement levels</a:t>
            </a:r>
            <a:r>
              <a:rPr lang="en-US" sz="1500" dirty="0"/>
              <a:t>.</a:t>
            </a:r>
          </a:p>
          <a:p>
            <a:pPr lvl="1"/>
            <a:r>
              <a:rPr lang="en-US" sz="1500" dirty="0"/>
              <a:t>Few users (e.g., </a:t>
            </a:r>
            <a:r>
              <a:rPr lang="en-US" sz="1500" i="1" dirty="0"/>
              <a:t>Michael Brown, Andrew Garcia</a:t>
            </a:r>
            <a:r>
              <a:rPr lang="en-US" sz="1500" dirty="0"/>
              <a:t>) dominate activity metrics.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Supporting Metrics:</a:t>
            </a:r>
            <a:endParaRPr lang="en-US" sz="1500" dirty="0"/>
          </a:p>
          <a:p>
            <a:pPr lvl="1"/>
            <a:r>
              <a:rPr lang="en-US" sz="1500" dirty="0"/>
              <a:t>Monthly average active minutes gradually decline from May–December.</a:t>
            </a:r>
          </a:p>
          <a:p>
            <a:pPr lvl="1"/>
            <a:r>
              <a:rPr lang="en-US" sz="1500" dirty="0"/>
              <a:t>Low engagement spikes during months of reduced activity tracking.</a:t>
            </a:r>
          </a:p>
          <a:p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894071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81B5-C578-E115-D4EE-3B5B5CC69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3F1E8-B7D8-C1FF-1F55-3E5F6C36A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20824"/>
            <a:ext cx="12192000" cy="48371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</a:p>
          <a:p>
            <a:pPr lvl="1"/>
            <a:r>
              <a:rPr lang="en-US" sz="1600" dirty="0"/>
              <a:t>User activity patterns show that engagement and consistency fluctuate across months and age groups. While a few users maintain strong calorie burn and active minutes, overall participation is highly seasonal.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Improving </a:t>
            </a:r>
            <a:r>
              <a:rPr lang="en-US" sz="1600" b="1" dirty="0"/>
              <a:t>data tracking accuracy</a:t>
            </a:r>
            <a:r>
              <a:rPr lang="en-US" sz="1600" dirty="0"/>
              <a:t>, encouraging </a:t>
            </a:r>
            <a:r>
              <a:rPr lang="en-US" sz="1600" b="1" dirty="0"/>
              <a:t>steady user engagement</a:t>
            </a:r>
            <a:r>
              <a:rPr lang="en-US" sz="1600" dirty="0"/>
              <a:t>, and tailoring </a:t>
            </a:r>
            <a:r>
              <a:rPr lang="en-US" sz="1600" b="1" dirty="0"/>
              <a:t>personalized fitness goals</a:t>
            </a:r>
            <a:r>
              <a:rPr lang="en-US" sz="1600" dirty="0"/>
              <a:t> can significantly enhance activity outcomes and platform adoption.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The analysis highlights that </a:t>
            </a:r>
            <a:r>
              <a:rPr lang="en-US" sz="1600" b="1" dirty="0"/>
              <a:t>smart insights from wearables</a:t>
            </a:r>
            <a:r>
              <a:rPr lang="en-US" sz="1600" dirty="0"/>
              <a:t> can empower both users and health teams — driving informed decisions that promote healthier, more active lifestyles.</a:t>
            </a:r>
          </a:p>
          <a:p>
            <a:pPr marL="457200" lvl="1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309392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4EE8F-1C7D-473A-67DC-0702E54E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7CD5-1967-34C2-0596-52403C529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dirty="0"/>
              <a:t>🖥️ </a:t>
            </a:r>
            <a:r>
              <a:rPr lang="en-US" b="1" dirty="0"/>
              <a:t>Dashboard Overview (1) – Engagement Overview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F6F94B-008A-E78F-ED85-C11E49B3FB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3"/>
          </a:xfrm>
        </p:spPr>
      </p:pic>
    </p:spTree>
    <p:extLst>
      <p:ext uri="{BB962C8B-B14F-4D97-AF65-F5344CB8AC3E}">
        <p14:creationId xmlns:p14="http://schemas.microsoft.com/office/powerpoint/2010/main" val="102998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D3C93-9CE2-F428-1842-837A8776E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dirty="0"/>
              <a:t>🖥️ </a:t>
            </a:r>
            <a:r>
              <a:rPr lang="en-US" b="1" dirty="0"/>
              <a:t>Dashboard Overview (2) – Activity Performance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5B3ECB2-D4E2-F23D-706A-B595057DC4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3"/>
          </a:xfrm>
        </p:spPr>
      </p:pic>
    </p:spTree>
    <p:extLst>
      <p:ext uri="{BB962C8B-B14F-4D97-AF65-F5344CB8AC3E}">
        <p14:creationId xmlns:p14="http://schemas.microsoft.com/office/powerpoint/2010/main" val="156206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9FE9C-DD75-14EE-DAC0-AFB172451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9304"/>
            <a:ext cx="12192000" cy="5568696"/>
          </a:xfrm>
        </p:spPr>
        <p:txBody>
          <a:bodyPr>
            <a:normAutofit/>
          </a:bodyPr>
          <a:lstStyle/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Enables </a:t>
            </a:r>
            <a:r>
              <a:rPr lang="en-US" altLang="en-US" sz="1500" b="1" dirty="0"/>
              <a:t>fitness app designers</a:t>
            </a:r>
            <a:r>
              <a:rPr lang="en-US" altLang="en-US" sz="1500" dirty="0"/>
              <a:t> to personalize activity goals and challenge levels based on user behavior trends.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Assists </a:t>
            </a:r>
            <a:r>
              <a:rPr lang="en-US" altLang="en-US" sz="1500" b="1" dirty="0"/>
              <a:t>health analysts</a:t>
            </a:r>
            <a:r>
              <a:rPr lang="en-US" altLang="en-US" sz="1500" dirty="0"/>
              <a:t> in identifying underperforming users and tailoring interventions for better wellness outcomes.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Helps </a:t>
            </a:r>
            <a:r>
              <a:rPr lang="en-US" altLang="en-US" sz="1500" b="1" dirty="0"/>
              <a:t>marketing teams</a:t>
            </a:r>
            <a:r>
              <a:rPr lang="en-US" altLang="en-US" sz="1500" dirty="0"/>
              <a:t> target users with low engagement levels through data-driven retention campaigns.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Supports </a:t>
            </a:r>
            <a:r>
              <a:rPr lang="en-US" altLang="en-US" sz="1500" b="1" dirty="0"/>
              <a:t>product teams</a:t>
            </a:r>
            <a:r>
              <a:rPr lang="en-US" altLang="en-US" sz="1500" dirty="0"/>
              <a:t> in enhancing engagement features such as streak tracking, goal reminders, and performance badges.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Guides </a:t>
            </a:r>
            <a:r>
              <a:rPr lang="en-US" altLang="en-US" sz="1500" b="1" dirty="0"/>
              <a:t>R&amp;D teams</a:t>
            </a:r>
            <a:r>
              <a:rPr lang="en-US" altLang="en-US" sz="1500" dirty="0"/>
              <a:t> to understand device usage and improve sensor accuracy or battery optimization.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Allows </a:t>
            </a:r>
            <a:r>
              <a:rPr lang="en-US" altLang="en-US" sz="1500" b="1" dirty="0"/>
              <a:t>business strategy teams</a:t>
            </a:r>
            <a:r>
              <a:rPr lang="en-US" altLang="en-US" sz="1500" dirty="0"/>
              <a:t> to measure the </a:t>
            </a:r>
            <a:r>
              <a:rPr lang="en-US" altLang="en-US" sz="1500" b="1" dirty="0"/>
              <a:t>impact of product adoption by neighborhood and demographic segment</a:t>
            </a:r>
            <a:r>
              <a:rPr lang="en-US" altLang="en-US" sz="1500" dirty="0"/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Provides </a:t>
            </a:r>
            <a:r>
              <a:rPr lang="en-US" altLang="en-US" sz="1500" b="1" dirty="0"/>
              <a:t>leadership</a:t>
            </a:r>
            <a:r>
              <a:rPr lang="en-US" altLang="en-US" sz="1500" dirty="0"/>
              <a:t> with a comprehensive view of user engagement KPIs to drive </a:t>
            </a:r>
            <a:r>
              <a:rPr lang="en-US" altLang="en-US" sz="1500" b="1" dirty="0"/>
              <a:t>data-informed decision-making</a:t>
            </a:r>
            <a:r>
              <a:rPr lang="en-US" altLang="en-US" sz="1500" dirty="0"/>
              <a:t>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6ED4EB1-EC5B-B0B3-8334-6112BDBABB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236235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62602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54EA-C6C0-AD7A-DFE4-7B107D73F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2143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7620C-3B01-BD8D-C488-C2363A934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12192000" cy="534923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27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DE7D-CAB5-CBBB-05B8-C656AA0A0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7999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34995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3837</TotalTime>
  <Words>1072</Words>
  <Application>Microsoft Office PowerPoint</Application>
  <PresentationFormat>Widescreen</PresentationFormat>
  <Paragraphs>125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FlexFit Health - Activity &amp; Wellness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📍Conclusion</vt:lpstr>
      <vt:lpstr>🖥️ Dashboard Overview (1) – Engagement Overview</vt:lpstr>
      <vt:lpstr>🖥️ Dashboard Overview (2) – Activity Performance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24</cp:revision>
  <dcterms:created xsi:type="dcterms:W3CDTF">2025-10-10T07:10:37Z</dcterms:created>
  <dcterms:modified xsi:type="dcterms:W3CDTF">2025-12-28T14:02:26Z</dcterms:modified>
</cp:coreProperties>
</file>