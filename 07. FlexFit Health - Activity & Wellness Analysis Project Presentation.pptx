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notesMasterIdLst>
    <p:notesMasterId r:id="rId16"/>
  </p:notesMasterIdLst>
  <p:sldIdLst>
    <p:sldId id="256" r:id="rId2"/>
    <p:sldId id="271" r:id="rId3"/>
    <p:sldId id="257" r:id="rId4"/>
    <p:sldId id="259" r:id="rId5"/>
    <p:sldId id="260" r:id="rId6"/>
    <p:sldId id="272" r:id="rId7"/>
    <p:sldId id="263" r:id="rId8"/>
    <p:sldId id="265" r:id="rId9"/>
    <p:sldId id="262" r:id="rId10"/>
    <p:sldId id="273" r:id="rId11"/>
    <p:sldId id="264" r:id="rId12"/>
    <p:sldId id="270" r:id="rId13"/>
    <p:sldId id="267" r:id="rId14"/>
    <p:sldId id="268" r:id="rId15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4995" autoAdjust="0"/>
    <p:restoredTop sz="94660"/>
  </p:normalViewPr>
  <p:slideViewPr>
    <p:cSldViewPr snapToGrid="0">
      <p:cViewPr varScale="1">
        <p:scale>
          <a:sx n="70" d="100"/>
          <a:sy n="70" d="100"/>
        </p:scale>
        <p:origin x="536" y="5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viewProps" Target="viewProp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presProps" Target="presProps.xml"/><Relationship Id="rId2" Type="http://schemas.openxmlformats.org/officeDocument/2006/relationships/slide" Target="slides/slide1.xml"/><Relationship Id="rId16" Type="http://schemas.openxmlformats.org/officeDocument/2006/relationships/notesMaster" Target="notesMasters/notesMaster1.xml"/><Relationship Id="rId20" Type="http://schemas.openxmlformats.org/officeDocument/2006/relationships/tableStyles" Target="tableStyle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10" Type="http://schemas.openxmlformats.org/officeDocument/2006/relationships/slide" Target="slides/slide9.xml"/><Relationship Id="rId19" Type="http://schemas.openxmlformats.org/officeDocument/2006/relationships/theme" Target="theme/theme1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6FB5CF1F-F9A3-4EFC-825C-53D69F984385}" type="datetimeFigureOut">
              <a:rPr lang="en-US" smtClean="0"/>
              <a:t>1/5/2026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A9831917-29C8-4BC7-957C-F11257860B4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15502265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A9831917-29C8-4BC7-957C-F11257860B43}" type="slidenum">
              <a:rPr lang="en-US" smtClean="0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93861009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A9831917-29C8-4BC7-957C-F11257860B43}" type="slidenum">
              <a:rPr lang="en-US" smtClean="0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15417607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CED07CF-3689-70DD-CB28-AAE11118CA34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7CE1CE79-C9C7-BB25-EF2A-10D0058475C3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CB6502CA-5B96-CB8A-20AE-3906E8C3729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56CA240-4DCA-41BB-A29D-1D0DE405E1C9}" type="datetimeFigureOut">
              <a:rPr lang="en-US" smtClean="0"/>
              <a:t>1/5/2026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25B4E639-AD7E-574C-C9E9-F5B43490D3B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C32CD176-E79D-6844-CB60-E7C78B68162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CEBA429-FB8D-4B42-A680-0E6E287F06A0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4459809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6C97AB7-A55C-0B82-FAED-B7E332320E1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F2841BAA-D510-ABB0-901D-0FAB309B0580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17012E59-3B88-F398-664D-3985AEA377A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56CA240-4DCA-41BB-A29D-1D0DE405E1C9}" type="datetimeFigureOut">
              <a:rPr lang="en-US" smtClean="0"/>
              <a:t>1/5/2026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19C125EA-93FA-07C0-7322-40260FD57A7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4DE5D02C-4A2F-1824-59A1-7983E4498CD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CEBA429-FB8D-4B42-A680-0E6E287F06A0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585155300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DEBFFE9-1FD7-F63D-6439-1E27142E8C7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BF3D7795-663E-05D7-5AD6-EDE501C60DD7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B178FD33-591E-4820-A128-A94F0B334DF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56CA240-4DCA-41BB-A29D-1D0DE405E1C9}" type="datetimeFigureOut">
              <a:rPr lang="en-US" smtClean="0"/>
              <a:t>1/5/2026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40673559-082C-1927-2A99-DB0902A7BEA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38257344-A764-7087-642A-130D4BDB12E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CEBA429-FB8D-4B42-A680-0E6E287F06A0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6584733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B2862F8-3E12-F92D-405F-D6F538733C9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CD60E924-67EF-C4F4-CBC4-3BA853B51589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46EF2A22-3AA1-9209-180C-ACD5CAE432E0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F6B6BA27-B2FD-C446-BEC7-8C46DD9BBFB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56CA240-4DCA-41BB-A29D-1D0DE405E1C9}" type="datetimeFigureOut">
              <a:rPr lang="en-US" smtClean="0"/>
              <a:t>1/5/2026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D68349FC-F9E9-C312-F4C6-8D6D604F9CC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21F505D3-5917-4780-1633-FE4FD2110F2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CEBA429-FB8D-4B42-A680-0E6E287F06A0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198070019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A7E271D-B1D1-D670-316D-2468EC1F21B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959281C9-A6B4-72BB-6420-63D0C9FB8175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FB4F6D81-DC99-1889-9E64-F6033F06DAE7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EA58B6AD-9212-7FEB-CFE3-F3E14CFE62D5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91D93A19-BA01-CA22-F22E-732EFB0CE904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7EAFDF2F-88B4-F652-05E4-CA5A375F5D6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56CA240-4DCA-41BB-A29D-1D0DE405E1C9}" type="datetimeFigureOut">
              <a:rPr lang="en-US" smtClean="0"/>
              <a:t>1/5/2026</a:t>
            </a:fld>
            <a:endParaRPr lang="en-US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83DAF91B-DD72-2AA0-29EB-85B63003AE2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9C67C143-07DD-21D1-88BC-58DBC3BE3EB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CEBA429-FB8D-4B42-A680-0E6E287F06A0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776718890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DD3502C-7C07-3A37-3440-CFE6877CDBA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1E934A65-9ABA-A4CB-2DD7-5CB25ECEFC1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56CA240-4DCA-41BB-A29D-1D0DE405E1C9}" type="datetimeFigureOut">
              <a:rPr lang="en-US" smtClean="0"/>
              <a:t>1/5/2026</a:t>
            </a:fld>
            <a:endParaRPr lang="en-US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74497960-613F-64A1-9E19-FCAF8E81122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8D4E4B99-D02C-E34A-900E-401B4D5305A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CEBA429-FB8D-4B42-A680-0E6E287F06A0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3682830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C67203A9-34DF-1A1A-0FAE-6315B950963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56CA240-4DCA-41BB-A29D-1D0DE405E1C9}" type="datetimeFigureOut">
              <a:rPr lang="en-US" smtClean="0"/>
              <a:t>1/5/2026</a:t>
            </a:fld>
            <a:endParaRPr lang="en-US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DE6D59CC-1CEE-6108-18C9-364D0D30873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E12AA34D-CFA4-C5D3-2E13-D8862979916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CEBA429-FB8D-4B42-A680-0E6E287F06A0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37765326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4655679-E51D-0CCA-C05C-4463EE16681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64597ADE-E05C-21F4-DCE0-A14C75F551D2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BF6D3006-CFC8-B856-9620-E3B6D8BE98C2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CBF8152A-8351-B7BE-2FF4-ECFD17E1165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56CA240-4DCA-41BB-A29D-1D0DE405E1C9}" type="datetimeFigureOut">
              <a:rPr lang="en-US" smtClean="0"/>
              <a:t>1/5/2026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A2D8D4CE-EDF4-0C77-DFBD-B16DB10CC0B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E14EC1D1-D55C-A862-30A7-9C883B683DF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CEBA429-FB8D-4B42-A680-0E6E287F06A0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29313833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94672F1-FAF3-F6B1-75BE-9D89225C899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F120378F-FD1A-2C35-6AE0-CE2E78A7A909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1BD4C9C7-AA5D-5148-E367-145C76EB9737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F3CCB853-5ABE-2552-6205-942FD79D35B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56CA240-4DCA-41BB-A29D-1D0DE405E1C9}" type="datetimeFigureOut">
              <a:rPr lang="en-US" smtClean="0"/>
              <a:t>1/5/2026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64129388-4C49-BE88-B847-EE920D6182D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19443087-2BB3-A704-D22E-D242C72185D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CEBA429-FB8D-4B42-A680-0E6E287F06A0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00027834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C4B142C-5EF6-2436-9786-E5975AD47F0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60D4508B-5FD2-4D1F-FD73-B24651E211A7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2FC65CB0-E5BC-47F5-6035-DBCFE434953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56CA240-4DCA-41BB-A29D-1D0DE405E1C9}" type="datetimeFigureOut">
              <a:rPr lang="en-US" smtClean="0"/>
              <a:t>1/5/2026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1BFF356D-EF3B-C45C-A827-E6901EAFDF3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3845E016-DF99-DC44-C6F3-B22839CB574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CEBA429-FB8D-4B42-A680-0E6E287F06A0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42258179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AA7D9BCE-A0F0-4C4F-1D8F-DC958C87F44C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979F0D40-AC43-C1C8-5C8B-94D803BC072A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9B4B8351-C7F1-1407-53B1-FD03FFC3FBA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56CA240-4DCA-41BB-A29D-1D0DE405E1C9}" type="datetimeFigureOut">
              <a:rPr lang="en-US" smtClean="0"/>
              <a:t>1/5/2026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C4180FF2-A8E9-E359-37B4-ED45884BAC0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71B22B75-6ECC-17A2-20CE-2675B3D9B2E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CEBA429-FB8D-4B42-A680-0E6E287F06A0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28027664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819F13E8-0655-D862-8DF0-C1E93F72EAE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E6FBFED0-7C94-95B8-C497-12C513EF13BB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D5D737FD-4D5B-4F88-10A6-46C987B1DC6A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A56CA240-4DCA-41BB-A29D-1D0DE405E1C9}" type="datetimeFigureOut">
              <a:rPr lang="en-US" smtClean="0"/>
              <a:t>1/5/2026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1F167536-CC95-FFEB-5C32-E7F7DA66E27F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00286531-DCEC-0275-6210-63850CEAF3CE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9CEBA429-FB8D-4B42-A680-0E6E287F06A0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54591235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3" Type="http://schemas.openxmlformats.org/officeDocument/2006/relationships/hyperlink" Target="https://www.linkedin.com/in/cnik1710/" TargetMode="External"/><Relationship Id="rId2" Type="http://schemas.openxmlformats.org/officeDocument/2006/relationships/hyperlink" Target="https://github.com/Cnik1710" TargetMode="External"/><Relationship Id="rId1" Type="http://schemas.openxmlformats.org/officeDocument/2006/relationships/slideLayout" Target="../slideLayouts/slideLayout2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00D8680-A25A-D894-2D56-B1731FC78D1C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-73152" y="1618488"/>
            <a:ext cx="12070080" cy="996696"/>
          </a:xfrm>
        </p:spPr>
        <p:txBody>
          <a:bodyPr>
            <a:normAutofit fontScale="90000"/>
          </a:bodyPr>
          <a:lstStyle/>
          <a:p>
            <a:r>
              <a:rPr lang="en-US" b="1" dirty="0"/>
              <a:t>FlexFit Health - Activity &amp; Wellness Analysis</a:t>
            </a:r>
            <a:endParaRPr lang="en-US" dirty="0"/>
          </a:p>
        </p:txBody>
      </p:sp>
      <p:sp>
        <p:nvSpPr>
          <p:cNvPr id="4" name="Subtitle 2">
            <a:extLst>
              <a:ext uri="{FF2B5EF4-FFF2-40B4-BE49-F238E27FC236}">
                <a16:creationId xmlns:a16="http://schemas.microsoft.com/office/drawing/2014/main" id="{6EA40268-244F-926E-D357-3F80868EF720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2615184"/>
            <a:ext cx="9713976" cy="2642616"/>
          </a:xfrm>
        </p:spPr>
        <p:txBody>
          <a:bodyPr/>
          <a:lstStyle/>
          <a:p>
            <a:pPr algn="r"/>
            <a:r>
              <a:rPr lang="en-US" b="1" dirty="0"/>
              <a:t>- A Data Analytics Case Study by Anik Chakraborty</a:t>
            </a:r>
          </a:p>
          <a:p>
            <a:pPr algn="r"/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4119708775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3AFCD89-E115-DC5F-B45A-2CDD4CDC457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0" y="1"/>
            <a:ext cx="12192000" cy="1207007"/>
          </a:xfrm>
        </p:spPr>
        <p:txBody>
          <a:bodyPr/>
          <a:lstStyle/>
          <a:p>
            <a:r>
              <a:rPr lang="en-US" b="1" dirty="0"/>
              <a:t>🎯 Objective</a:t>
            </a:r>
            <a:endParaRPr lang="en-US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4494FB80-F047-4A14-4B1A-FB0EE0D09B68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0" y="1207008"/>
            <a:ext cx="12192000" cy="5650991"/>
          </a:xfrm>
        </p:spPr>
        <p:txBody>
          <a:bodyPr>
            <a:normAutofit/>
          </a:bodyPr>
          <a:lstStyle/>
          <a:p>
            <a:pPr marL="0" indent="0">
              <a:buNone/>
            </a:pPr>
            <a:r>
              <a:rPr lang="en-US" sz="1500" dirty="0"/>
              <a:t>Analyze and interpret </a:t>
            </a:r>
            <a:r>
              <a:rPr lang="en-US" sz="1500" b="1" dirty="0"/>
              <a:t>FlexFit Health’s wearable activity data</a:t>
            </a:r>
            <a:r>
              <a:rPr lang="en-US" sz="1500" dirty="0"/>
              <a:t> to uncover actionable insights that drive </a:t>
            </a:r>
            <a:r>
              <a:rPr lang="en-US" sz="1500" b="1" dirty="0"/>
              <a:t>user engagement, product optimization, and wellness outcomes</a:t>
            </a:r>
            <a:r>
              <a:rPr lang="en-US" sz="1500" dirty="0"/>
              <a:t>.</a:t>
            </a:r>
            <a:br>
              <a:rPr lang="en-US" sz="1500" b="1" dirty="0"/>
            </a:br>
            <a:br>
              <a:rPr lang="en-US" sz="1500" b="1" dirty="0"/>
            </a:br>
            <a:endParaRPr lang="en-US" sz="1500" b="1" dirty="0"/>
          </a:p>
          <a:p>
            <a:pPr marL="0" indent="0">
              <a:buNone/>
            </a:pPr>
            <a:r>
              <a:rPr lang="en-US" sz="1500" b="1" dirty="0"/>
              <a:t>Project Purpose:</a:t>
            </a:r>
          </a:p>
          <a:p>
            <a:pPr lvl="1"/>
            <a:r>
              <a:rPr lang="en-US" sz="1500" dirty="0"/>
              <a:t>Assess how active users are across months and activity types.</a:t>
            </a:r>
          </a:p>
          <a:p>
            <a:pPr lvl="1"/>
            <a:r>
              <a:rPr lang="en-US" sz="1500" dirty="0"/>
              <a:t>Identify engagement patterns based on distance, minutes, and calories burned.</a:t>
            </a:r>
          </a:p>
          <a:p>
            <a:pPr lvl="1"/>
            <a:r>
              <a:rPr lang="en-US" sz="1500" dirty="0"/>
              <a:t>Provide insights to improve </a:t>
            </a:r>
            <a:r>
              <a:rPr lang="en-US" sz="1500" b="1" dirty="0"/>
              <a:t>user motivation and fitness app performance.</a:t>
            </a:r>
            <a:endParaRPr lang="en-US" sz="1500" dirty="0"/>
          </a:p>
          <a:p>
            <a:pPr marL="0" indent="0">
              <a:buNone/>
            </a:pPr>
            <a:br>
              <a:rPr lang="en-US" sz="1500" b="1" dirty="0"/>
            </a:br>
            <a:r>
              <a:rPr lang="en-US" sz="1500" b="1" dirty="0"/>
              <a:t>Key KPIs:</a:t>
            </a:r>
          </a:p>
          <a:p>
            <a:pPr lvl="1"/>
            <a:r>
              <a:rPr lang="en-US" sz="1500" b="1" dirty="0"/>
              <a:t>Total Users:</a:t>
            </a:r>
            <a:r>
              <a:rPr lang="en-US" sz="1500" dirty="0"/>
              <a:t> 33</a:t>
            </a:r>
          </a:p>
          <a:p>
            <a:pPr lvl="1"/>
            <a:r>
              <a:rPr lang="en-US" sz="1500" b="1" dirty="0"/>
              <a:t>Total Duration:</a:t>
            </a:r>
            <a:r>
              <a:rPr lang="en-US" sz="1500" dirty="0"/>
              <a:t> 11 Months</a:t>
            </a:r>
          </a:p>
          <a:p>
            <a:pPr lvl="1"/>
            <a:r>
              <a:rPr lang="en-US" sz="1500" b="1" dirty="0"/>
              <a:t>Average Calories Burned:</a:t>
            </a:r>
            <a:r>
              <a:rPr lang="en-US" sz="1500" dirty="0"/>
              <a:t> 2.30K</a:t>
            </a:r>
          </a:p>
          <a:p>
            <a:pPr lvl="1"/>
            <a:r>
              <a:rPr lang="en-US" sz="1500" b="1" dirty="0"/>
              <a:t>Average Steps:</a:t>
            </a:r>
            <a:r>
              <a:rPr lang="en-US" sz="1500" dirty="0"/>
              <a:t> 7.64K</a:t>
            </a:r>
          </a:p>
          <a:p>
            <a:pPr lvl="1"/>
            <a:r>
              <a:rPr lang="en-US" sz="1500" b="1" dirty="0"/>
              <a:t>Average Active Minutes:</a:t>
            </a:r>
            <a:r>
              <a:rPr lang="en-US" sz="1500" dirty="0"/>
              <a:t> 227.54</a:t>
            </a:r>
          </a:p>
          <a:p>
            <a:pPr lvl="1"/>
            <a:r>
              <a:rPr lang="en-US" sz="1500" b="1" dirty="0"/>
              <a:t>Untracked Distance:</a:t>
            </a:r>
            <a:r>
              <a:rPr lang="en-US" sz="1500" dirty="0"/>
              <a:t> 13.49 Km</a:t>
            </a:r>
          </a:p>
          <a:p>
            <a:pPr lvl="1"/>
            <a:r>
              <a:rPr lang="en-US" sz="1500" b="1" dirty="0"/>
              <a:t>Active Days:</a:t>
            </a:r>
            <a:r>
              <a:rPr lang="en-US" sz="1500" dirty="0"/>
              <a:t> 864 | </a:t>
            </a:r>
            <a:r>
              <a:rPr lang="en-US" sz="1500" b="1" dirty="0"/>
              <a:t>Inactive Days:</a:t>
            </a:r>
            <a:r>
              <a:rPr lang="en-US" sz="1500" dirty="0"/>
              <a:t> 76</a:t>
            </a:r>
          </a:p>
          <a:p>
            <a:pPr marL="0" indent="0">
              <a:buNone/>
            </a:pPr>
            <a:br>
              <a:rPr lang="en-US" sz="1500" b="1" dirty="0"/>
            </a:br>
            <a:r>
              <a:rPr lang="en-US" sz="1500" b="1" dirty="0"/>
              <a:t>Deliverables:</a:t>
            </a:r>
          </a:p>
          <a:p>
            <a:pPr lvl="1"/>
            <a:r>
              <a:rPr lang="en-US" sz="1500" dirty="0"/>
              <a:t>Interactive </a:t>
            </a:r>
            <a:r>
              <a:rPr lang="en-US" sz="1500" b="1" dirty="0"/>
              <a:t>Power BI dashboard</a:t>
            </a:r>
            <a:r>
              <a:rPr lang="en-US" sz="1500" dirty="0"/>
              <a:t> showing user activity &amp; wellness patterns.</a:t>
            </a:r>
          </a:p>
          <a:p>
            <a:pPr lvl="1"/>
            <a:r>
              <a:rPr lang="en-US" sz="1500" dirty="0"/>
              <a:t>Detailed analysis on </a:t>
            </a:r>
            <a:r>
              <a:rPr lang="en-US" sz="1500" b="1" dirty="0"/>
              <a:t>engagement trends and activity performance</a:t>
            </a:r>
            <a:r>
              <a:rPr lang="en-US" sz="1500" dirty="0"/>
              <a:t>.</a:t>
            </a:r>
          </a:p>
          <a:p>
            <a:pPr marL="0" indent="0">
              <a:buNone/>
            </a:pPr>
            <a:endParaRPr lang="en-US" sz="1500" dirty="0"/>
          </a:p>
        </p:txBody>
      </p:sp>
    </p:spTree>
    <p:extLst>
      <p:ext uri="{BB962C8B-B14F-4D97-AF65-F5344CB8AC3E}">
        <p14:creationId xmlns:p14="http://schemas.microsoft.com/office/powerpoint/2010/main" val="1739674985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23ED255-8A6B-C4FC-2D8B-3BAAE32352E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0" y="1"/>
            <a:ext cx="12192000" cy="1042416"/>
          </a:xfrm>
        </p:spPr>
        <p:txBody>
          <a:bodyPr/>
          <a:lstStyle/>
          <a:p>
            <a:r>
              <a:rPr lang="en-US" dirty="0"/>
              <a:t>📘 </a:t>
            </a:r>
            <a:r>
              <a:rPr lang="en-US" b="1" dirty="0"/>
              <a:t>Project Overview</a:t>
            </a:r>
            <a:endParaRPr lang="en-US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125B47DC-FB9B-EBC9-396C-9B7FFC8448CE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0" y="1700783"/>
            <a:ext cx="12192000" cy="5157215"/>
          </a:xfrm>
        </p:spPr>
        <p:txBody>
          <a:bodyPr>
            <a:normAutofit/>
          </a:bodyPr>
          <a:lstStyle/>
          <a:p>
            <a:pPr marL="0" indent="0">
              <a:buNone/>
            </a:pPr>
            <a:endParaRPr lang="en-US" sz="1500" b="1" dirty="0"/>
          </a:p>
          <a:p>
            <a:pPr marL="0" indent="0">
              <a:buNone/>
            </a:pPr>
            <a:r>
              <a:rPr lang="en-US" sz="1500" b="1" dirty="0"/>
              <a:t>Context Highlights :</a:t>
            </a:r>
          </a:p>
          <a:p>
            <a:pPr marL="0" indent="0">
              <a:buNone/>
            </a:pPr>
            <a:r>
              <a:rPr lang="en-US" sz="1500" dirty="0"/>
              <a:t>The analysis helps FlexFit Health’s </a:t>
            </a:r>
            <a:r>
              <a:rPr lang="en-US" sz="1500" b="1" dirty="0"/>
              <a:t>marketing, R&amp;D, and product teams</a:t>
            </a:r>
            <a:r>
              <a:rPr lang="en-US" sz="1500" dirty="0"/>
              <a:t> understand:</a:t>
            </a:r>
          </a:p>
          <a:p>
            <a:pPr lvl="1"/>
            <a:r>
              <a:rPr lang="en-US" sz="1500" dirty="0"/>
              <a:t>How users engage with fitness trackers</a:t>
            </a:r>
          </a:p>
          <a:p>
            <a:pPr lvl="1"/>
            <a:r>
              <a:rPr lang="en-US" sz="1500" dirty="0"/>
              <a:t>Which neighborhoods are most active</a:t>
            </a:r>
          </a:p>
          <a:p>
            <a:pPr lvl="1"/>
            <a:r>
              <a:rPr lang="en-US" sz="1500" dirty="0"/>
              <a:t>Relationships between </a:t>
            </a:r>
            <a:r>
              <a:rPr lang="en-US" sz="1500" b="1" dirty="0"/>
              <a:t>steps, calories, and active minutes</a:t>
            </a:r>
            <a:endParaRPr lang="en-US" sz="1500" dirty="0"/>
          </a:p>
          <a:p>
            <a:pPr lvl="1"/>
            <a:r>
              <a:rPr lang="en-US" sz="1500" dirty="0"/>
              <a:t>How activity varies by </a:t>
            </a:r>
            <a:r>
              <a:rPr lang="en-US" sz="1500" b="1" dirty="0"/>
              <a:t>age, location, and time</a:t>
            </a:r>
            <a:endParaRPr lang="en-US" sz="1500" dirty="0"/>
          </a:p>
          <a:p>
            <a:pPr marL="0" indent="0">
              <a:buNone/>
            </a:pPr>
            <a:endParaRPr lang="en-US" sz="1500" dirty="0"/>
          </a:p>
          <a:p>
            <a:pPr marL="0" indent="0">
              <a:buNone/>
            </a:pPr>
            <a:r>
              <a:rPr lang="en-US" sz="1500" dirty="0"/>
              <a:t>Using </a:t>
            </a:r>
            <a:r>
              <a:rPr lang="en-US" sz="1500" b="1" dirty="0"/>
              <a:t>Excel, Power Query, and Power BI</a:t>
            </a:r>
            <a:r>
              <a:rPr lang="en-US" sz="1500" dirty="0"/>
              <a:t>, the project transforms raw activity data into an </a:t>
            </a:r>
            <a:r>
              <a:rPr lang="en-US" sz="1500" b="1" dirty="0"/>
              <a:t>interactive dashboard</a:t>
            </a:r>
            <a:r>
              <a:rPr lang="en-US" sz="1500" dirty="0"/>
              <a:t> that visualizes key metrics and trends — driving </a:t>
            </a:r>
            <a:r>
              <a:rPr lang="en-US" sz="1500" b="1" dirty="0"/>
              <a:t>data-informed wellness strategies</a:t>
            </a:r>
            <a:r>
              <a:rPr lang="en-US" sz="1500" dirty="0"/>
              <a:t> and enhanced </a:t>
            </a:r>
            <a:r>
              <a:rPr lang="en-US" sz="1500" b="1" dirty="0"/>
              <a:t>user engagement</a:t>
            </a:r>
            <a:r>
              <a:rPr lang="en-US" sz="1500" dirty="0"/>
              <a:t>.</a:t>
            </a:r>
          </a:p>
        </p:txBody>
      </p:sp>
    </p:spTree>
    <p:extLst>
      <p:ext uri="{BB962C8B-B14F-4D97-AF65-F5344CB8AC3E}">
        <p14:creationId xmlns:p14="http://schemas.microsoft.com/office/powerpoint/2010/main" val="3683996966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1745DA7-F0EC-0E1E-B49D-9F24538EFFC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0" y="1"/>
            <a:ext cx="12192000" cy="1161287"/>
          </a:xfrm>
        </p:spPr>
        <p:txBody>
          <a:bodyPr/>
          <a:lstStyle/>
          <a:p>
            <a:r>
              <a:rPr lang="en-US" dirty="0"/>
              <a:t>🗂️ </a:t>
            </a:r>
            <a:r>
              <a:rPr lang="en-US" b="1" dirty="0"/>
              <a:t>Data Overview &amp; Schema</a:t>
            </a:r>
            <a:endParaRPr lang="en-US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F17DE161-AF90-4BCF-0DB6-011AB0582B3D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0" y="1353312"/>
            <a:ext cx="12192000" cy="5504688"/>
          </a:xfrm>
        </p:spPr>
        <p:txBody>
          <a:bodyPr>
            <a:noAutofit/>
          </a:bodyPr>
          <a:lstStyle/>
          <a:p>
            <a:pPr marL="0" indent="0">
              <a:buNone/>
            </a:pPr>
            <a:r>
              <a:rPr lang="en-US" sz="1500" b="1" dirty="0"/>
              <a:t>Data Source:</a:t>
            </a:r>
          </a:p>
          <a:p>
            <a:pPr lvl="1"/>
            <a:r>
              <a:rPr lang="en-US" sz="1500" b="1" dirty="0"/>
              <a:t>Source:</a:t>
            </a:r>
            <a:r>
              <a:rPr lang="en-US" sz="1500" dirty="0"/>
              <a:t> Fictionalized fitness tracking dataset provided by </a:t>
            </a:r>
            <a:r>
              <a:rPr lang="en-US" sz="1500" b="1" dirty="0"/>
              <a:t>FlexFit Health</a:t>
            </a:r>
            <a:r>
              <a:rPr lang="en-US" sz="1500" dirty="0"/>
              <a:t>.</a:t>
            </a:r>
          </a:p>
          <a:p>
            <a:pPr lvl="1"/>
            <a:r>
              <a:rPr lang="en-US" sz="1500" b="1" dirty="0"/>
              <a:t>Data Type:</a:t>
            </a:r>
            <a:r>
              <a:rPr lang="en-US" sz="1500" dirty="0"/>
              <a:t> Structured user profiles and daily activity logs captured via FlexFit smart devices.</a:t>
            </a:r>
          </a:p>
          <a:p>
            <a:pPr lvl="1"/>
            <a:r>
              <a:rPr lang="en-US" sz="1500" b="1" dirty="0"/>
              <a:t>Time Period:</a:t>
            </a:r>
            <a:r>
              <a:rPr lang="en-US" sz="1500" dirty="0"/>
              <a:t> Continuous daily activity tracking snapshot for the year </a:t>
            </a:r>
            <a:r>
              <a:rPr lang="en-US" sz="1500" b="1"/>
              <a:t>2016</a:t>
            </a:r>
            <a:r>
              <a:rPr lang="en-US" sz="1500"/>
              <a:t>.</a:t>
            </a:r>
            <a:endParaRPr lang="en-US" sz="1500" dirty="0"/>
          </a:p>
          <a:p>
            <a:pPr marL="0" indent="0">
              <a:buNone/>
            </a:pPr>
            <a:r>
              <a:rPr lang="en-US" sz="1500" b="1" dirty="0"/>
              <a:t>Data Structure &amp; Metrics:</a:t>
            </a:r>
            <a:endParaRPr lang="en-US" sz="1500" dirty="0"/>
          </a:p>
          <a:p>
            <a:pPr lvl="1"/>
            <a:r>
              <a:rPr lang="en-US" sz="1500" b="1" dirty="0"/>
              <a:t>Key Index Types:</a:t>
            </a:r>
            <a:r>
              <a:rPr lang="en-US" sz="1500" dirty="0"/>
              <a:t> User-level records in the </a:t>
            </a:r>
            <a:r>
              <a:rPr lang="en-US" sz="1500" i="1" dirty="0"/>
              <a:t>User Details</a:t>
            </a:r>
            <a:r>
              <a:rPr lang="en-US" sz="1500" dirty="0"/>
              <a:t> dataset and date-level activity logs in the </a:t>
            </a:r>
            <a:r>
              <a:rPr lang="en-US" sz="1500" i="1" dirty="0"/>
              <a:t>Activity</a:t>
            </a:r>
            <a:r>
              <a:rPr lang="en-US" sz="1500" dirty="0"/>
              <a:t> dataset.</a:t>
            </a:r>
          </a:p>
          <a:p>
            <a:pPr lvl="1"/>
            <a:r>
              <a:rPr lang="en-US" sz="1500" b="1" dirty="0"/>
              <a:t>Total Rows:</a:t>
            </a:r>
            <a:r>
              <a:rPr lang="en-US" sz="1500" dirty="0"/>
              <a:t> Users – </a:t>
            </a:r>
            <a:r>
              <a:rPr lang="en-US" sz="1500" b="1" dirty="0"/>
              <a:t>58</a:t>
            </a:r>
            <a:r>
              <a:rPr lang="en-US" sz="1500" dirty="0"/>
              <a:t>, Activity Logs – </a:t>
            </a:r>
            <a:r>
              <a:rPr lang="en-US" sz="1500" b="1" dirty="0"/>
              <a:t>~10,000+</a:t>
            </a:r>
            <a:r>
              <a:rPr lang="en-US" sz="1500" dirty="0"/>
              <a:t>.</a:t>
            </a:r>
          </a:p>
          <a:p>
            <a:pPr lvl="1"/>
            <a:r>
              <a:rPr lang="en-US" sz="1500" b="1" dirty="0"/>
              <a:t>Categories:</a:t>
            </a:r>
            <a:r>
              <a:rPr lang="en-US" sz="1500" dirty="0"/>
              <a:t> Around 15+ features across three main segments:</a:t>
            </a:r>
          </a:p>
          <a:p>
            <a:pPr lvl="2"/>
            <a:r>
              <a:rPr lang="en-US" sz="1500" b="1" dirty="0"/>
              <a:t>Demographics:</a:t>
            </a:r>
            <a:r>
              <a:rPr lang="en-US" sz="1500" dirty="0"/>
              <a:t> First Name, Last Name, Age, Address, Neighborhood, Date</a:t>
            </a:r>
          </a:p>
          <a:p>
            <a:pPr lvl="2"/>
            <a:r>
              <a:rPr lang="en-US" sz="1500" b="1" dirty="0"/>
              <a:t>Performance Indicators:</a:t>
            </a:r>
            <a:r>
              <a:rPr lang="en-US" sz="1500" dirty="0"/>
              <a:t> Total vs. Tracker Distance, Logged Activity Distance, and Active Minutes split</a:t>
            </a:r>
          </a:p>
          <a:p>
            <a:pPr lvl="1"/>
            <a:r>
              <a:rPr lang="en-US" sz="1500" b="1" dirty="0"/>
              <a:t>Calculated Metrics:</a:t>
            </a:r>
            <a:r>
              <a:rPr lang="en-US" sz="1500" dirty="0"/>
              <a:t> Derived fields using </a:t>
            </a:r>
            <a:r>
              <a:rPr lang="en-US" sz="1500" b="1" dirty="0"/>
              <a:t>custom DAX measure</a:t>
            </a:r>
            <a:r>
              <a:rPr lang="en-US" sz="1500" dirty="0"/>
              <a:t> for Power BI insights.</a:t>
            </a:r>
          </a:p>
          <a:p>
            <a:pPr lvl="2" eaLnBrk="0" fontAlgn="base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</a:pPr>
            <a:r>
              <a:rPr lang="en-US" altLang="en-US" sz="1500" b="1" dirty="0"/>
              <a:t>Activity metrics:</a:t>
            </a:r>
            <a:r>
              <a:rPr lang="en-US" altLang="en-US" sz="1500" dirty="0"/>
              <a:t> Steps, Distance, Active Minutes (Light, Fairly, Very)</a:t>
            </a:r>
          </a:p>
          <a:p>
            <a:pPr lvl="2" eaLnBrk="0" fontAlgn="base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</a:pPr>
            <a:r>
              <a:rPr lang="en-US" altLang="en-US" sz="1500" b="1" dirty="0"/>
              <a:t>Derived metrics:</a:t>
            </a:r>
            <a:r>
              <a:rPr lang="en-US" altLang="en-US" sz="1500" dirty="0"/>
              <a:t> Total Calories Burned,  Engagement Level, Tracker Distance, Untracked Distance, </a:t>
            </a:r>
            <a:r>
              <a:rPr lang="en-US" sz="1500" dirty="0"/>
              <a:t>Total Active Time, Activity Intensity Score</a:t>
            </a:r>
            <a:endParaRPr lang="en-US" altLang="en-US" sz="1500" dirty="0"/>
          </a:p>
        </p:txBody>
      </p:sp>
    </p:spTree>
    <p:extLst>
      <p:ext uri="{BB962C8B-B14F-4D97-AF65-F5344CB8AC3E}">
        <p14:creationId xmlns:p14="http://schemas.microsoft.com/office/powerpoint/2010/main" val="3827167722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60011E3-A2A8-7794-5F23-FB02F995C10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0" y="18255"/>
            <a:ext cx="12192000" cy="1325563"/>
          </a:xfrm>
        </p:spPr>
        <p:txBody>
          <a:bodyPr/>
          <a:lstStyle/>
          <a:p>
            <a:r>
              <a:rPr lang="en-US" dirty="0"/>
              <a:t>💻 </a:t>
            </a:r>
            <a:r>
              <a:rPr lang="en-US" b="1" dirty="0"/>
              <a:t>Tech Stack</a:t>
            </a:r>
            <a:endParaRPr lang="en-US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07962CC4-E061-AD0B-12AC-E035660543C6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9144" y="1536192"/>
            <a:ext cx="12192000" cy="5303553"/>
          </a:xfrm>
        </p:spPr>
        <p:txBody>
          <a:bodyPr>
            <a:normAutofit/>
          </a:bodyPr>
          <a:lstStyle/>
          <a:p>
            <a:pPr marL="0" indent="0">
              <a:buNone/>
            </a:pPr>
            <a:r>
              <a:rPr lang="en-US" sz="1500" b="1" dirty="0"/>
              <a:t>Tools:</a:t>
            </a:r>
            <a:endParaRPr lang="en-US" sz="1500" dirty="0"/>
          </a:p>
          <a:p>
            <a:pPr lvl="1"/>
            <a:r>
              <a:rPr lang="en-US" sz="1500" b="1" dirty="0"/>
              <a:t>Excel</a:t>
            </a:r>
            <a:endParaRPr lang="en-US" sz="1500" dirty="0"/>
          </a:p>
          <a:p>
            <a:pPr lvl="2"/>
            <a:r>
              <a:rPr lang="en-US" sz="1500" dirty="0"/>
              <a:t>Data cleaning &amp; preprocessing</a:t>
            </a:r>
            <a:endParaRPr lang="en-US" sz="1500" b="1" dirty="0"/>
          </a:p>
          <a:p>
            <a:pPr lvl="1"/>
            <a:r>
              <a:rPr lang="en-US" sz="1500" b="1" dirty="0"/>
              <a:t>PowerQuery</a:t>
            </a:r>
            <a:r>
              <a:rPr lang="en-US" sz="1500" dirty="0"/>
              <a:t> </a:t>
            </a:r>
          </a:p>
          <a:p>
            <a:pPr lvl="2"/>
            <a:r>
              <a:rPr lang="en-US" sz="1500" dirty="0"/>
              <a:t>ETL transformations</a:t>
            </a:r>
            <a:endParaRPr lang="en-US" sz="1500" b="1" dirty="0"/>
          </a:p>
          <a:p>
            <a:pPr lvl="1"/>
            <a:r>
              <a:rPr lang="en-US" sz="1500" b="1" dirty="0"/>
              <a:t>PowerBI</a:t>
            </a:r>
          </a:p>
          <a:p>
            <a:pPr lvl="2"/>
            <a:r>
              <a:rPr lang="en-US" sz="1500" dirty="0"/>
              <a:t>Visualization, DAX measures &amp; dashboard design</a:t>
            </a:r>
          </a:p>
          <a:p>
            <a:pPr lvl="2"/>
            <a:r>
              <a:rPr lang="en-US" sz="1500" b="1" dirty="0"/>
              <a:t>DAX</a:t>
            </a:r>
            <a:r>
              <a:rPr lang="en-US" sz="1500" dirty="0"/>
              <a:t> – Calculated measures and time intelligence</a:t>
            </a:r>
            <a:br>
              <a:rPr lang="en-US" sz="1500" dirty="0"/>
            </a:br>
            <a:endParaRPr lang="en-US" sz="1500" dirty="0"/>
          </a:p>
          <a:p>
            <a:pPr lvl="1"/>
            <a:r>
              <a:rPr lang="en-US" sz="1500" b="1" dirty="0"/>
              <a:t>PowerPoint</a:t>
            </a:r>
          </a:p>
          <a:p>
            <a:pPr lvl="2"/>
            <a:r>
              <a:rPr lang="en-US" sz="1500" dirty="0"/>
              <a:t>Presentation and final dashboard snapshots</a:t>
            </a:r>
          </a:p>
        </p:txBody>
      </p:sp>
    </p:spTree>
    <p:extLst>
      <p:ext uri="{BB962C8B-B14F-4D97-AF65-F5344CB8AC3E}">
        <p14:creationId xmlns:p14="http://schemas.microsoft.com/office/powerpoint/2010/main" val="4132828586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EE941B6-B3B2-523E-A6EE-541D848349B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0" y="1"/>
            <a:ext cx="12192000" cy="1289303"/>
          </a:xfrm>
        </p:spPr>
        <p:txBody>
          <a:bodyPr/>
          <a:lstStyle/>
          <a:p>
            <a:r>
              <a:rPr lang="en-US" dirty="0"/>
              <a:t>📈 </a:t>
            </a:r>
            <a:r>
              <a:rPr lang="en-US" b="1" dirty="0"/>
              <a:t>Methodology &amp; Analysis</a:t>
            </a:r>
            <a:endParaRPr lang="en-US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EBE635A2-BF86-574F-A84C-1D37A0008230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0" y="1362456"/>
            <a:ext cx="12192000" cy="5495543"/>
          </a:xfrm>
        </p:spPr>
        <p:txBody>
          <a:bodyPr>
            <a:normAutofit/>
          </a:bodyPr>
          <a:lstStyle/>
          <a:p>
            <a:pPr marL="0" indent="0">
              <a:buNone/>
            </a:pPr>
            <a:r>
              <a:rPr lang="en-US" sz="1500" b="1" dirty="0"/>
              <a:t>Preparation, Process &amp; Analytical Approach:</a:t>
            </a:r>
            <a:endParaRPr lang="en-US" sz="1500" dirty="0"/>
          </a:p>
          <a:p>
            <a:pPr marL="0" indent="0">
              <a:buNone/>
            </a:pPr>
            <a:r>
              <a:rPr lang="en-US" sz="1500" b="1" dirty="0"/>
              <a:t>Data Preparation &amp; Cleaning:</a:t>
            </a:r>
          </a:p>
          <a:p>
            <a:pPr lvl="1"/>
            <a:r>
              <a:rPr lang="en-US" sz="1500" dirty="0"/>
              <a:t>Handled missing and inconsistent activity logs.</a:t>
            </a:r>
          </a:p>
          <a:p>
            <a:pPr lvl="1"/>
            <a:r>
              <a:rPr lang="en-US" sz="1500" dirty="0"/>
              <a:t>Standardized numeric fields and validated record accuracy.</a:t>
            </a:r>
          </a:p>
          <a:p>
            <a:pPr lvl="1"/>
            <a:r>
              <a:rPr lang="en-US" sz="1500" dirty="0"/>
              <a:t>Merged datasets via </a:t>
            </a:r>
            <a:r>
              <a:rPr lang="en-US" sz="1500" b="1" dirty="0"/>
              <a:t>User ID</a:t>
            </a:r>
            <a:r>
              <a:rPr lang="en-US" sz="1500" dirty="0"/>
              <a:t> to build a unified analytical model.</a:t>
            </a:r>
          </a:p>
          <a:p>
            <a:pPr marL="0" indent="0">
              <a:buNone/>
            </a:pPr>
            <a:r>
              <a:rPr lang="en-US" sz="1500" b="1" dirty="0"/>
              <a:t>Data Modeling &amp; Integration:</a:t>
            </a:r>
          </a:p>
          <a:p>
            <a:pPr lvl="1"/>
            <a:r>
              <a:rPr lang="en-US" sz="1500" dirty="0"/>
              <a:t>Established </a:t>
            </a:r>
            <a:r>
              <a:rPr lang="en-US" sz="1500" b="1" dirty="0"/>
              <a:t>User → Date → Activity</a:t>
            </a:r>
            <a:r>
              <a:rPr lang="en-US" sz="1500" dirty="0"/>
              <a:t> relationships.</a:t>
            </a:r>
          </a:p>
          <a:p>
            <a:pPr lvl="1"/>
            <a:r>
              <a:rPr lang="en-US" sz="1500" dirty="0"/>
              <a:t>Ensured </a:t>
            </a:r>
            <a:r>
              <a:rPr lang="en-US" sz="1500" b="1" dirty="0"/>
              <a:t>one-to-many integrity</a:t>
            </a:r>
            <a:r>
              <a:rPr lang="en-US" sz="1500" dirty="0"/>
              <a:t> (1 user → many activity records).</a:t>
            </a:r>
          </a:p>
          <a:p>
            <a:pPr marL="0" indent="0">
              <a:buNone/>
            </a:pPr>
            <a:r>
              <a:rPr lang="en-US" sz="1500" b="1" dirty="0"/>
              <a:t>Feature Engineering:</a:t>
            </a:r>
          </a:p>
          <a:p>
            <a:pPr lvl="1"/>
            <a:r>
              <a:rPr lang="en-US" sz="1500" dirty="0"/>
              <a:t>Derived new measures: </a:t>
            </a:r>
            <a:r>
              <a:rPr lang="en-US" sz="1500" b="1" dirty="0"/>
              <a:t>Active Minutes</a:t>
            </a:r>
            <a:r>
              <a:rPr lang="en-US" sz="1500" dirty="0"/>
              <a:t>, </a:t>
            </a:r>
            <a:r>
              <a:rPr lang="en-US" sz="1500" b="1" dirty="0"/>
              <a:t>Engagement Type</a:t>
            </a:r>
            <a:r>
              <a:rPr lang="en-US" sz="1500" dirty="0"/>
              <a:t>, and </a:t>
            </a:r>
            <a:r>
              <a:rPr lang="en-US" sz="1500" b="1" dirty="0"/>
              <a:t>Untracked Distance</a:t>
            </a:r>
            <a:r>
              <a:rPr lang="en-US" sz="1500" dirty="0"/>
              <a:t>.</a:t>
            </a:r>
          </a:p>
          <a:p>
            <a:pPr lvl="1"/>
            <a:r>
              <a:rPr lang="en-US" sz="1500" dirty="0"/>
              <a:t>Split </a:t>
            </a:r>
            <a:r>
              <a:rPr lang="en-US" sz="1500" b="1" dirty="0"/>
              <a:t>Address → Neighborhood</a:t>
            </a:r>
            <a:r>
              <a:rPr lang="en-US" sz="1500" dirty="0"/>
              <a:t> using Power Query for location insights.</a:t>
            </a:r>
          </a:p>
          <a:p>
            <a:pPr marL="0" indent="0">
              <a:buNone/>
            </a:pPr>
            <a:r>
              <a:rPr lang="en-US" sz="1500" b="1" dirty="0"/>
              <a:t>Visualization Design:</a:t>
            </a:r>
          </a:p>
          <a:p>
            <a:pPr lvl="1"/>
            <a:r>
              <a:rPr lang="en-US" sz="1500" dirty="0"/>
              <a:t>Built two interactive dashboards:</a:t>
            </a:r>
          </a:p>
          <a:p>
            <a:pPr lvl="2"/>
            <a:r>
              <a:rPr lang="en-US" sz="1500" i="1" dirty="0"/>
              <a:t>Engagement Overview</a:t>
            </a:r>
          </a:p>
          <a:p>
            <a:pPr lvl="2"/>
            <a:r>
              <a:rPr lang="en-US" sz="1500" i="1" dirty="0"/>
              <a:t>Activity Performance</a:t>
            </a:r>
          </a:p>
          <a:p>
            <a:pPr lvl="1"/>
            <a:r>
              <a:rPr lang="en-US" sz="1500" dirty="0"/>
              <a:t>Applied synchronized </a:t>
            </a:r>
            <a:r>
              <a:rPr lang="en-US" sz="1500" b="1" dirty="0"/>
              <a:t>slicers</a:t>
            </a:r>
            <a:r>
              <a:rPr lang="en-US" sz="1500" dirty="0"/>
              <a:t> for Age Group, User, and Timeframe filters.</a:t>
            </a:r>
          </a:p>
          <a:p>
            <a:pPr marL="0" indent="0">
              <a:buNone/>
            </a:pPr>
            <a:r>
              <a:rPr lang="en-US" sz="1500" b="1" dirty="0"/>
              <a:t>Data Validation &amp; Formatting:</a:t>
            </a:r>
          </a:p>
          <a:p>
            <a:pPr lvl="1"/>
            <a:r>
              <a:rPr lang="en-US" sz="1500" dirty="0"/>
              <a:t>Verified data consistency across all relationships.</a:t>
            </a:r>
          </a:p>
          <a:p>
            <a:pPr lvl="1"/>
            <a:r>
              <a:rPr lang="en-US" sz="1500" dirty="0"/>
              <a:t>Standardized </a:t>
            </a:r>
            <a:r>
              <a:rPr lang="en-US" sz="1500" b="1" dirty="0"/>
              <a:t>date formats</a:t>
            </a:r>
            <a:r>
              <a:rPr lang="en-US" sz="1500" dirty="0"/>
              <a:t>, </a:t>
            </a:r>
            <a:r>
              <a:rPr lang="en-US" sz="1500" b="1" dirty="0"/>
              <a:t>distance units (KM)</a:t>
            </a:r>
            <a:r>
              <a:rPr lang="en-US" sz="1500" dirty="0"/>
              <a:t>, and </a:t>
            </a:r>
            <a:r>
              <a:rPr lang="en-US" sz="1500" b="1" dirty="0"/>
              <a:t>column names</a:t>
            </a:r>
            <a:r>
              <a:rPr lang="en-US" sz="1500" dirty="0"/>
              <a:t> for Power BI readiness.</a:t>
            </a:r>
          </a:p>
          <a:p>
            <a:pPr marL="0" indent="0">
              <a:buNone/>
            </a:pPr>
            <a:endParaRPr lang="en-US" sz="1500" dirty="0"/>
          </a:p>
        </p:txBody>
      </p:sp>
    </p:spTree>
    <p:extLst>
      <p:ext uri="{BB962C8B-B14F-4D97-AF65-F5344CB8AC3E}">
        <p14:creationId xmlns:p14="http://schemas.microsoft.com/office/powerpoint/2010/main" val="2181986352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532F99D-A532-6D29-9A7D-0D924702691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0" y="1"/>
            <a:ext cx="12192000" cy="1097280"/>
          </a:xfrm>
        </p:spPr>
        <p:txBody>
          <a:bodyPr/>
          <a:lstStyle/>
          <a:p>
            <a:r>
              <a:rPr lang="en-US" dirty="0"/>
              <a:t>❓ </a:t>
            </a:r>
            <a:r>
              <a:rPr lang="en-US" b="1" dirty="0"/>
              <a:t>Problem Statement</a:t>
            </a:r>
            <a:endParaRPr lang="en-US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9E7D1A5F-1080-308A-17D4-EE93E2192DFA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0" y="1572768"/>
            <a:ext cx="12192000" cy="5285231"/>
          </a:xfrm>
        </p:spPr>
        <p:txBody>
          <a:bodyPr>
            <a:normAutofit/>
          </a:bodyPr>
          <a:lstStyle/>
          <a:p>
            <a:pPr marL="0" indent="0">
              <a:buNone/>
            </a:pPr>
            <a:r>
              <a:rPr lang="en-US" sz="1500" dirty="0"/>
              <a:t>FlexFit Health, a next-generation fitness technology company, provides smart wearables that track users’ daily movements, calories burned, and overall activity levels.</a:t>
            </a:r>
          </a:p>
          <a:p>
            <a:pPr marL="0" indent="0">
              <a:buNone/>
            </a:pPr>
            <a:br>
              <a:rPr lang="en-US" sz="1500" dirty="0"/>
            </a:br>
            <a:r>
              <a:rPr lang="en-US" sz="1500" dirty="0"/>
              <a:t>This project analyzes daily user-level activity data from </a:t>
            </a:r>
            <a:r>
              <a:rPr lang="en-US" sz="1500" b="1" dirty="0"/>
              <a:t>New York City residents (Brooklyn &amp; Manhattan) over an 11-month period </a:t>
            </a:r>
            <a:r>
              <a:rPr lang="en-US" sz="1500" dirty="0"/>
              <a:t>to explore user engagement, fitness behaviors, and wellness outcomes.</a:t>
            </a:r>
          </a:p>
          <a:p>
            <a:pPr marL="0" indent="0">
              <a:buNone/>
            </a:pPr>
            <a:endParaRPr lang="en-US" sz="1500" b="1" dirty="0"/>
          </a:p>
          <a:p>
            <a:pPr marL="0" indent="0">
              <a:buNone/>
            </a:pPr>
            <a:r>
              <a:rPr lang="en-US" sz="1500" b="1" dirty="0"/>
              <a:t>Key Questions:</a:t>
            </a:r>
            <a:endParaRPr lang="en-US" sz="1500" dirty="0"/>
          </a:p>
          <a:p>
            <a:pPr lvl="1"/>
            <a:r>
              <a:rPr lang="en-US" sz="1500" dirty="0"/>
              <a:t>How active are users across different months and age groups?</a:t>
            </a:r>
          </a:p>
          <a:p>
            <a:pPr lvl="1"/>
            <a:r>
              <a:rPr lang="en-US" sz="1500" dirty="0"/>
              <a:t>Which users show the highest calorie burn and active minutes?</a:t>
            </a:r>
          </a:p>
          <a:p>
            <a:pPr lvl="1"/>
            <a:r>
              <a:rPr lang="en-US" sz="1500" dirty="0"/>
              <a:t>What is the monthly trend of engagement levels?</a:t>
            </a:r>
          </a:p>
          <a:p>
            <a:pPr lvl="1"/>
            <a:r>
              <a:rPr lang="en-US" sz="1500" dirty="0"/>
              <a:t>How much of total distance remains untracked?</a:t>
            </a:r>
          </a:p>
        </p:txBody>
      </p:sp>
    </p:spTree>
    <p:extLst>
      <p:ext uri="{BB962C8B-B14F-4D97-AF65-F5344CB8AC3E}">
        <p14:creationId xmlns:p14="http://schemas.microsoft.com/office/powerpoint/2010/main" val="3065399383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01CD5F8-D0E4-975A-6783-C12BA7F421D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0" y="1"/>
            <a:ext cx="12192000" cy="1271015"/>
          </a:xfrm>
        </p:spPr>
        <p:txBody>
          <a:bodyPr/>
          <a:lstStyle/>
          <a:p>
            <a:r>
              <a:rPr lang="en-US" dirty="0"/>
              <a:t>💡 </a:t>
            </a:r>
            <a:r>
              <a:rPr lang="en-US" b="1" dirty="0"/>
              <a:t>Key Insights</a:t>
            </a:r>
            <a:endParaRPr lang="en-US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AB7F2298-2736-F19C-21FB-BDE85EA3CAC4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0" y="2093976"/>
            <a:ext cx="12192000" cy="4764024"/>
          </a:xfrm>
        </p:spPr>
        <p:txBody>
          <a:bodyPr>
            <a:normAutofit/>
          </a:bodyPr>
          <a:lstStyle/>
          <a:p>
            <a:pPr marL="0" indent="0">
              <a:buNone/>
            </a:pPr>
            <a:r>
              <a:rPr lang="en-US" sz="1500" b="1" dirty="0"/>
              <a:t>Top Findings:</a:t>
            </a:r>
            <a:endParaRPr lang="en-US" sz="1500" dirty="0"/>
          </a:p>
          <a:p>
            <a:pPr lvl="1"/>
            <a:r>
              <a:rPr lang="en-US" sz="1500" dirty="0"/>
              <a:t>April shows </a:t>
            </a:r>
            <a:r>
              <a:rPr lang="en-US" sz="1500" b="1" dirty="0"/>
              <a:t>highest activity &amp; calorie burn</a:t>
            </a:r>
            <a:r>
              <a:rPr lang="en-US" sz="1500" dirty="0"/>
              <a:t> among all months.</a:t>
            </a:r>
          </a:p>
          <a:p>
            <a:pPr lvl="1"/>
            <a:r>
              <a:rPr lang="en-US" sz="1500" b="1" dirty="0"/>
              <a:t>Young Adults (27.45%)</a:t>
            </a:r>
            <a:r>
              <a:rPr lang="en-US" sz="1500" dirty="0"/>
              <a:t> are the most engaged demographic.</a:t>
            </a:r>
          </a:p>
          <a:p>
            <a:pPr lvl="1"/>
            <a:r>
              <a:rPr lang="en-US" sz="1500" b="1" dirty="0"/>
              <a:t>Untracked Distance:</a:t>
            </a:r>
            <a:r>
              <a:rPr lang="en-US" sz="1500" dirty="0"/>
              <a:t> ~13.49 Km — indicates device off-time or missing syncs.</a:t>
            </a:r>
          </a:p>
          <a:p>
            <a:pPr lvl="1"/>
            <a:r>
              <a:rPr lang="en-US" sz="1500" b="1" dirty="0"/>
              <a:t>Active Minutes &amp; Distance</a:t>
            </a:r>
            <a:r>
              <a:rPr lang="en-US" sz="1500" dirty="0"/>
              <a:t> strongly correlate with </a:t>
            </a:r>
            <a:r>
              <a:rPr lang="en-US" sz="1500" b="1" dirty="0"/>
              <a:t>higher engagement levels</a:t>
            </a:r>
            <a:r>
              <a:rPr lang="en-US" sz="1500" dirty="0"/>
              <a:t>.</a:t>
            </a:r>
          </a:p>
          <a:p>
            <a:pPr lvl="1"/>
            <a:r>
              <a:rPr lang="en-US" sz="1500" dirty="0"/>
              <a:t>Few users (e.g., </a:t>
            </a:r>
            <a:r>
              <a:rPr lang="en-US" sz="1500" i="1" dirty="0"/>
              <a:t>Michael Brown, Andrew Garcia</a:t>
            </a:r>
            <a:r>
              <a:rPr lang="en-US" sz="1500" dirty="0"/>
              <a:t>) dominate activity metrics.</a:t>
            </a:r>
          </a:p>
          <a:p>
            <a:pPr marL="0" indent="0">
              <a:buNone/>
            </a:pPr>
            <a:endParaRPr lang="en-US" sz="1500" b="1" dirty="0"/>
          </a:p>
          <a:p>
            <a:pPr marL="0" indent="0">
              <a:buNone/>
            </a:pPr>
            <a:r>
              <a:rPr lang="en-US" sz="1500" b="1" dirty="0"/>
              <a:t>Supporting Metrics:</a:t>
            </a:r>
            <a:endParaRPr lang="en-US" sz="1500" dirty="0"/>
          </a:p>
          <a:p>
            <a:pPr lvl="1"/>
            <a:r>
              <a:rPr lang="en-US" sz="1500" dirty="0"/>
              <a:t>Monthly average active minutes gradually decline from May–December.</a:t>
            </a:r>
          </a:p>
          <a:p>
            <a:pPr lvl="1"/>
            <a:r>
              <a:rPr lang="en-US" sz="1500" dirty="0"/>
              <a:t>Low engagement spikes during months of reduced activity tracking.</a:t>
            </a:r>
          </a:p>
          <a:p>
            <a:endParaRPr lang="en-US" sz="1500" dirty="0"/>
          </a:p>
        </p:txBody>
      </p:sp>
    </p:spTree>
    <p:extLst>
      <p:ext uri="{BB962C8B-B14F-4D97-AF65-F5344CB8AC3E}">
        <p14:creationId xmlns:p14="http://schemas.microsoft.com/office/powerpoint/2010/main" val="894071808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30881B5-C578-E115-D4EE-3B5B5CC6935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0" y="1"/>
            <a:ext cx="12192000" cy="1280159"/>
          </a:xfrm>
        </p:spPr>
        <p:txBody>
          <a:bodyPr/>
          <a:lstStyle/>
          <a:p>
            <a:r>
              <a:rPr lang="en-US" dirty="0"/>
              <a:t>📍</a:t>
            </a:r>
            <a:r>
              <a:rPr lang="en-US" b="1" dirty="0"/>
              <a:t>Conclusion</a:t>
            </a:r>
            <a:endParaRPr lang="en-US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B8D3F1E8-B7D8-C1FF-1F55-3E5F6C36A6BE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0" y="2020824"/>
            <a:ext cx="12192000" cy="4837175"/>
          </a:xfrm>
        </p:spPr>
        <p:txBody>
          <a:bodyPr>
            <a:normAutofit/>
          </a:bodyPr>
          <a:lstStyle/>
          <a:p>
            <a:pPr marL="0" indent="0">
              <a:buNone/>
            </a:pPr>
            <a:r>
              <a:rPr lang="en-US" sz="1500" b="1" dirty="0"/>
              <a:t>Summary:</a:t>
            </a:r>
          </a:p>
          <a:p>
            <a:pPr lvl="1"/>
            <a:r>
              <a:rPr lang="en-US" sz="1600" dirty="0"/>
              <a:t>User activity patterns show that engagement and consistency fluctuate across months and age groups. While a few users maintain strong calorie burn and active minutes, overall participation is highly seasonal.</a:t>
            </a:r>
          </a:p>
          <a:p>
            <a:pPr lvl="1"/>
            <a:endParaRPr lang="en-US" sz="1600" dirty="0"/>
          </a:p>
          <a:p>
            <a:pPr lvl="1"/>
            <a:r>
              <a:rPr lang="en-US" sz="1600" dirty="0"/>
              <a:t>Improving </a:t>
            </a:r>
            <a:r>
              <a:rPr lang="en-US" sz="1600" b="1" dirty="0"/>
              <a:t>data tracking accuracy</a:t>
            </a:r>
            <a:r>
              <a:rPr lang="en-US" sz="1600" dirty="0"/>
              <a:t>, encouraging </a:t>
            </a:r>
            <a:r>
              <a:rPr lang="en-US" sz="1600" b="1" dirty="0"/>
              <a:t>steady user engagement</a:t>
            </a:r>
            <a:r>
              <a:rPr lang="en-US" sz="1600" dirty="0"/>
              <a:t>, and tailoring </a:t>
            </a:r>
            <a:r>
              <a:rPr lang="en-US" sz="1600" b="1" dirty="0"/>
              <a:t>personalized fitness goals</a:t>
            </a:r>
            <a:r>
              <a:rPr lang="en-US" sz="1600" dirty="0"/>
              <a:t> can significantly enhance activity outcomes and platform adoption.</a:t>
            </a:r>
          </a:p>
          <a:p>
            <a:pPr lvl="1"/>
            <a:endParaRPr lang="en-US" sz="1600" dirty="0"/>
          </a:p>
          <a:p>
            <a:pPr lvl="1"/>
            <a:r>
              <a:rPr lang="en-US" sz="1600" dirty="0"/>
              <a:t>The analysis highlights that </a:t>
            </a:r>
            <a:r>
              <a:rPr lang="en-US" sz="1600" b="1" dirty="0"/>
              <a:t>smart insights from wearables</a:t>
            </a:r>
            <a:r>
              <a:rPr lang="en-US" sz="1600" dirty="0"/>
              <a:t> can empower both users and health teams — driving informed decisions that promote healthier, more active lifestyles.</a:t>
            </a:r>
          </a:p>
          <a:p>
            <a:pPr marL="457200" lvl="1" indent="0">
              <a:buNone/>
            </a:pPr>
            <a:endParaRPr lang="en-US" sz="1600" dirty="0"/>
          </a:p>
        </p:txBody>
      </p:sp>
    </p:spTree>
    <p:extLst>
      <p:ext uri="{BB962C8B-B14F-4D97-AF65-F5344CB8AC3E}">
        <p14:creationId xmlns:p14="http://schemas.microsoft.com/office/powerpoint/2010/main" val="2930939219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A524EE8F-1C7D-473A-67DC-0702E54E3D3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8E17CD5-1967-34C2-0596-52403C529A9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0" y="1"/>
            <a:ext cx="12192000" cy="1271015"/>
          </a:xfrm>
        </p:spPr>
        <p:txBody>
          <a:bodyPr>
            <a:normAutofit/>
          </a:bodyPr>
          <a:lstStyle/>
          <a:p>
            <a:r>
              <a:rPr lang="en-US" dirty="0"/>
              <a:t>🖥️ </a:t>
            </a:r>
            <a:r>
              <a:rPr lang="en-US" b="1" dirty="0"/>
              <a:t>Dashboard Overview (1) – Engagement Overview</a:t>
            </a:r>
            <a:endParaRPr lang="en-US" dirty="0"/>
          </a:p>
        </p:txBody>
      </p:sp>
      <p:pic>
        <p:nvPicPr>
          <p:cNvPr id="5" name="Content Placeholder 4">
            <a:extLst>
              <a:ext uri="{FF2B5EF4-FFF2-40B4-BE49-F238E27FC236}">
                <a16:creationId xmlns:a16="http://schemas.microsoft.com/office/drawing/2014/main" id="{A5F6F94B-008A-E78F-ED85-C11E49B3FB29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1271016"/>
            <a:ext cx="12192000" cy="5586983"/>
          </a:xfrm>
        </p:spPr>
      </p:pic>
    </p:spTree>
    <p:extLst>
      <p:ext uri="{BB962C8B-B14F-4D97-AF65-F5344CB8AC3E}">
        <p14:creationId xmlns:p14="http://schemas.microsoft.com/office/powerpoint/2010/main" val="1029989018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D3D3C93-9CE2-F428-1842-837A8776E2A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0" y="1"/>
            <a:ext cx="12192000" cy="1271015"/>
          </a:xfrm>
        </p:spPr>
        <p:txBody>
          <a:bodyPr>
            <a:normAutofit/>
          </a:bodyPr>
          <a:lstStyle/>
          <a:p>
            <a:r>
              <a:rPr lang="en-US" dirty="0"/>
              <a:t>🖥️ </a:t>
            </a:r>
            <a:r>
              <a:rPr lang="en-US" b="1" dirty="0"/>
              <a:t>Dashboard Overview (2) – Activity Performance</a:t>
            </a:r>
            <a:endParaRPr lang="en-US" dirty="0"/>
          </a:p>
        </p:txBody>
      </p:sp>
      <p:pic>
        <p:nvPicPr>
          <p:cNvPr id="9" name="Content Placeholder 8">
            <a:extLst>
              <a:ext uri="{FF2B5EF4-FFF2-40B4-BE49-F238E27FC236}">
                <a16:creationId xmlns:a16="http://schemas.microsoft.com/office/drawing/2014/main" id="{25B3ECB2-D4E2-F23D-706A-B595057DC4FF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1271016"/>
            <a:ext cx="12192000" cy="5586983"/>
          </a:xfrm>
        </p:spPr>
      </p:pic>
    </p:spTree>
    <p:extLst>
      <p:ext uri="{BB962C8B-B14F-4D97-AF65-F5344CB8AC3E}">
        <p14:creationId xmlns:p14="http://schemas.microsoft.com/office/powerpoint/2010/main" val="1562063736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1959FE9C-DD75-14EE-DAC0-AFB172451568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0" y="1289304"/>
            <a:ext cx="12192000" cy="5568696"/>
          </a:xfrm>
        </p:spPr>
        <p:txBody>
          <a:bodyPr>
            <a:normAutofit/>
          </a:bodyPr>
          <a:lstStyle/>
          <a:p>
            <a:pPr lvl="1" eaLnBrk="0" fontAlgn="base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</a:pPr>
            <a:r>
              <a:rPr lang="en-US" altLang="en-US" sz="1500" dirty="0"/>
              <a:t>Enables </a:t>
            </a:r>
            <a:r>
              <a:rPr lang="en-US" altLang="en-US" sz="1500" b="1" dirty="0"/>
              <a:t>fitness app designers</a:t>
            </a:r>
            <a:r>
              <a:rPr lang="en-US" altLang="en-US" sz="1500" dirty="0"/>
              <a:t> to personalize activity goals and challenge levels based on user behavior trends.</a:t>
            </a:r>
          </a:p>
          <a:p>
            <a:pPr lvl="1" eaLnBrk="0" fontAlgn="base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</a:pPr>
            <a:endParaRPr lang="en-US" altLang="en-US" sz="1500" dirty="0"/>
          </a:p>
          <a:p>
            <a:pPr lvl="1" eaLnBrk="0" fontAlgn="base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</a:pPr>
            <a:r>
              <a:rPr lang="en-US" altLang="en-US" sz="1500" dirty="0"/>
              <a:t>Assists </a:t>
            </a:r>
            <a:r>
              <a:rPr lang="en-US" altLang="en-US" sz="1500" b="1" dirty="0"/>
              <a:t>health analysts</a:t>
            </a:r>
            <a:r>
              <a:rPr lang="en-US" altLang="en-US" sz="1500" dirty="0"/>
              <a:t> in identifying underperforming users and tailoring interventions for better wellness outcomes.</a:t>
            </a:r>
          </a:p>
          <a:p>
            <a:pPr lvl="1" eaLnBrk="0" fontAlgn="base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</a:pPr>
            <a:endParaRPr lang="en-US" altLang="en-US" sz="1500" dirty="0"/>
          </a:p>
          <a:p>
            <a:pPr lvl="1" eaLnBrk="0" fontAlgn="base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</a:pPr>
            <a:r>
              <a:rPr lang="en-US" altLang="en-US" sz="1500" dirty="0"/>
              <a:t>Helps </a:t>
            </a:r>
            <a:r>
              <a:rPr lang="en-US" altLang="en-US" sz="1500" b="1" dirty="0"/>
              <a:t>marketing teams</a:t>
            </a:r>
            <a:r>
              <a:rPr lang="en-US" altLang="en-US" sz="1500" dirty="0"/>
              <a:t> target users with low engagement levels through data-driven retention campaigns.</a:t>
            </a:r>
          </a:p>
          <a:p>
            <a:pPr lvl="1" eaLnBrk="0" fontAlgn="base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</a:pPr>
            <a:endParaRPr lang="en-US" altLang="en-US" sz="1500" dirty="0"/>
          </a:p>
          <a:p>
            <a:pPr lvl="1" eaLnBrk="0" fontAlgn="base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</a:pPr>
            <a:r>
              <a:rPr lang="en-US" altLang="en-US" sz="1500" dirty="0"/>
              <a:t>Supports </a:t>
            </a:r>
            <a:r>
              <a:rPr lang="en-US" altLang="en-US" sz="1500" b="1" dirty="0"/>
              <a:t>product teams</a:t>
            </a:r>
            <a:r>
              <a:rPr lang="en-US" altLang="en-US" sz="1500" dirty="0"/>
              <a:t> in enhancing engagement features such as streak tracking, goal reminders, and performance badges.</a:t>
            </a:r>
          </a:p>
          <a:p>
            <a:pPr lvl="1" eaLnBrk="0" fontAlgn="base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</a:pPr>
            <a:endParaRPr lang="en-US" altLang="en-US" sz="1500" dirty="0"/>
          </a:p>
          <a:p>
            <a:pPr lvl="1" eaLnBrk="0" fontAlgn="base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</a:pPr>
            <a:r>
              <a:rPr lang="en-US" altLang="en-US" sz="1500" dirty="0"/>
              <a:t>Guides </a:t>
            </a:r>
            <a:r>
              <a:rPr lang="en-US" altLang="en-US" sz="1500" b="1" dirty="0"/>
              <a:t>R&amp;D teams</a:t>
            </a:r>
            <a:r>
              <a:rPr lang="en-US" altLang="en-US" sz="1500" dirty="0"/>
              <a:t> to understand device usage and improve sensor accuracy or battery optimization.</a:t>
            </a:r>
          </a:p>
          <a:p>
            <a:pPr lvl="1" eaLnBrk="0" fontAlgn="base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</a:pPr>
            <a:endParaRPr lang="en-US" altLang="en-US" sz="1500" dirty="0"/>
          </a:p>
          <a:p>
            <a:pPr lvl="1" eaLnBrk="0" fontAlgn="base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</a:pPr>
            <a:r>
              <a:rPr lang="en-US" altLang="en-US" sz="1500" dirty="0"/>
              <a:t>Allows </a:t>
            </a:r>
            <a:r>
              <a:rPr lang="en-US" altLang="en-US" sz="1500" b="1" dirty="0"/>
              <a:t>business strategy teams</a:t>
            </a:r>
            <a:r>
              <a:rPr lang="en-US" altLang="en-US" sz="1500" dirty="0"/>
              <a:t> to measure the </a:t>
            </a:r>
            <a:r>
              <a:rPr lang="en-US" altLang="en-US" sz="1500" b="1" dirty="0"/>
              <a:t>impact of product adoption by neighborhood and demographic segment</a:t>
            </a:r>
            <a:r>
              <a:rPr lang="en-US" altLang="en-US" sz="1500" dirty="0"/>
              <a:t>.</a:t>
            </a:r>
          </a:p>
          <a:p>
            <a:pPr lvl="1" eaLnBrk="0" fontAlgn="base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</a:pPr>
            <a:endParaRPr lang="en-US" altLang="en-US" sz="1500" dirty="0"/>
          </a:p>
          <a:p>
            <a:pPr lvl="1" eaLnBrk="0" fontAlgn="base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</a:pPr>
            <a:r>
              <a:rPr lang="en-US" altLang="en-US" sz="1500" dirty="0"/>
              <a:t>Provides </a:t>
            </a:r>
            <a:r>
              <a:rPr lang="en-US" altLang="en-US" sz="1500" b="1" dirty="0"/>
              <a:t>leadership</a:t>
            </a:r>
            <a:r>
              <a:rPr lang="en-US" altLang="en-US" sz="1500" dirty="0"/>
              <a:t> with a comprehensive view of user engagement KPIs to drive </a:t>
            </a:r>
            <a:r>
              <a:rPr lang="en-US" altLang="en-US" sz="1500" b="1" dirty="0"/>
              <a:t>data-informed decision-making</a:t>
            </a:r>
            <a:r>
              <a:rPr lang="en-US" altLang="en-US" sz="1500" dirty="0"/>
              <a:t>.</a:t>
            </a:r>
          </a:p>
        </p:txBody>
      </p:sp>
      <p:sp>
        <p:nvSpPr>
          <p:cNvPr id="4" name="Rectangle 1">
            <a:extLst>
              <a:ext uri="{FF2B5EF4-FFF2-40B4-BE49-F238E27FC236}">
                <a16:creationId xmlns:a16="http://schemas.microsoft.com/office/drawing/2014/main" id="{D6ED4EB1-EC5B-B0B3-8334-6112BDBABBAE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 bwMode="auto">
          <a:xfrm>
            <a:off x="0" y="236235"/>
            <a:ext cx="12192000" cy="769441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en-US" altLang="en-US" b="1" i="0" u="none" strike="noStrike" cap="none" normalizeH="0" baseline="0" dirty="0">
                <a:ln>
                  <a:noFill/>
                </a:ln>
                <a:solidFill>
                  <a:srgbClr val="000000"/>
                </a:solidFill>
                <a:effectLst/>
              </a:rPr>
              <a:t>✅ Business Impact &amp; Use Cases</a:t>
            </a:r>
            <a:endParaRPr kumimoji="0" lang="en-US" altLang="en-US" b="1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</a:endParaRPr>
          </a:p>
        </p:txBody>
      </p:sp>
    </p:spTree>
    <p:extLst>
      <p:ext uri="{BB962C8B-B14F-4D97-AF65-F5344CB8AC3E}">
        <p14:creationId xmlns:p14="http://schemas.microsoft.com/office/powerpoint/2010/main" val="2862602561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60854EA-C6C0-AD7A-DFE4-7B107D73F19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0" y="1"/>
            <a:ext cx="12192000" cy="1152143"/>
          </a:xfrm>
        </p:spPr>
        <p:txBody>
          <a:bodyPr/>
          <a:lstStyle/>
          <a:p>
            <a:r>
              <a:rPr lang="en-US" dirty="0"/>
              <a:t>🙏 </a:t>
            </a:r>
            <a:r>
              <a:rPr lang="en-US" b="1" dirty="0"/>
              <a:t>Acknowledgement &amp; Contact</a:t>
            </a:r>
            <a:endParaRPr lang="en-US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5F17620C-3B01-BD8D-C488-C2363A93472D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0" y="1508760"/>
            <a:ext cx="12192000" cy="5349239"/>
          </a:xfrm>
        </p:spPr>
        <p:txBody>
          <a:bodyPr/>
          <a:lstStyle/>
          <a:p>
            <a:pPr marL="0" indent="0">
              <a:buNone/>
            </a:pPr>
            <a:r>
              <a:rPr lang="en-US" b="1" dirty="0"/>
              <a:t>Project Analyst: </a:t>
            </a:r>
            <a:r>
              <a:rPr lang="en-US" dirty="0"/>
              <a:t>Anik Chakraborty</a:t>
            </a:r>
            <a:br>
              <a:rPr lang="en-US" dirty="0"/>
            </a:br>
            <a:r>
              <a:rPr lang="en-US" dirty="0"/>
              <a:t>		📧 Email: anikc1710@gmail.com</a:t>
            </a:r>
          </a:p>
          <a:p>
            <a:pPr marL="0" indent="0">
              <a:buNone/>
            </a:pPr>
            <a:endParaRPr lang="en-US" b="1" dirty="0"/>
          </a:p>
          <a:p>
            <a:pPr marL="0" indent="0">
              <a:buNone/>
            </a:pPr>
            <a:r>
              <a:rPr lang="en-US" b="1" dirty="0"/>
              <a:t>Special Thanks To:</a:t>
            </a:r>
            <a:endParaRPr lang="en-US" dirty="0"/>
          </a:p>
          <a:p>
            <a:pPr lvl="1"/>
            <a:r>
              <a:rPr lang="en-US" b="1" dirty="0"/>
              <a:t>Coding Ninjas</a:t>
            </a:r>
            <a:r>
              <a:rPr lang="en-US" dirty="0"/>
              <a:t> – for project framework and guidance</a:t>
            </a:r>
          </a:p>
          <a:p>
            <a:pPr marL="0" indent="0">
              <a:buNone/>
            </a:pPr>
            <a:endParaRPr lang="en-US" b="1" dirty="0"/>
          </a:p>
          <a:p>
            <a:pPr marL="0" indent="0">
              <a:buNone/>
            </a:pPr>
            <a:r>
              <a:rPr lang="en-US" b="1" dirty="0"/>
              <a:t>Connect:</a:t>
            </a:r>
            <a:br>
              <a:rPr lang="en-US" dirty="0"/>
            </a:br>
            <a:r>
              <a:rPr lang="en-US" dirty="0">
                <a:hlinkClick r:id="rId2"/>
              </a:rPr>
              <a:t>🔗 GitHub</a:t>
            </a:r>
            <a:r>
              <a:rPr lang="en-US" dirty="0"/>
              <a:t> | </a:t>
            </a:r>
            <a:r>
              <a:rPr lang="en-US" dirty="0">
                <a:hlinkClick r:id="rId3"/>
              </a:rPr>
              <a:t>🔗 LinkedIn</a:t>
            </a:r>
            <a:endParaRPr lang="en-US" dirty="0"/>
          </a:p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337927029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0D2DE7D-CAB5-CBBB-05B8-C656AA0A0B9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0" y="1"/>
            <a:ext cx="12192000" cy="6857999"/>
          </a:xfrm>
        </p:spPr>
        <p:txBody>
          <a:bodyPr>
            <a:normAutofit/>
          </a:bodyPr>
          <a:lstStyle/>
          <a:p>
            <a:pPr algn="ctr"/>
            <a:r>
              <a:rPr lang="en-US" sz="9600" b="1" dirty="0"/>
              <a:t>Thank You!</a:t>
            </a:r>
          </a:p>
        </p:txBody>
      </p:sp>
    </p:spTree>
    <p:extLst>
      <p:ext uri="{BB962C8B-B14F-4D97-AF65-F5344CB8AC3E}">
        <p14:creationId xmlns:p14="http://schemas.microsoft.com/office/powerpoint/2010/main" val="1734995123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3858</TotalTime>
  <Words>1071</Words>
  <Application>Microsoft Office PowerPoint</Application>
  <PresentationFormat>Widescreen</PresentationFormat>
  <Paragraphs>127</Paragraphs>
  <Slides>14</Slides>
  <Notes>2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14</vt:i4>
      </vt:variant>
    </vt:vector>
  </HeadingPairs>
  <TitlesOfParts>
    <vt:vector size="18" baseType="lpstr">
      <vt:lpstr>Arial</vt:lpstr>
      <vt:lpstr>Calibri</vt:lpstr>
      <vt:lpstr>Calibri Light</vt:lpstr>
      <vt:lpstr>Office Theme</vt:lpstr>
      <vt:lpstr>FlexFit Health - Activity &amp; Wellness Analysis</vt:lpstr>
      <vt:lpstr>🎯 Objective</vt:lpstr>
      <vt:lpstr>📘 Project Overview</vt:lpstr>
      <vt:lpstr>🗂️ Data Overview &amp; Schema</vt:lpstr>
      <vt:lpstr>💻 Tech Stack</vt:lpstr>
      <vt:lpstr>📈 Methodology &amp; Analysis</vt:lpstr>
      <vt:lpstr>❓ Problem Statement</vt:lpstr>
      <vt:lpstr>💡 Key Insights</vt:lpstr>
      <vt:lpstr>📍Conclusion</vt:lpstr>
      <vt:lpstr>🖥️ Dashboard Overview (1) – Engagement Overview</vt:lpstr>
      <vt:lpstr>🖥️ Dashboard Overview (2) – Activity Performance</vt:lpstr>
      <vt:lpstr>✅ Business Impact &amp; Use Cases</vt:lpstr>
      <vt:lpstr>🙏 Acknowledgement &amp; Contact</vt:lpstr>
      <vt:lpstr>Thank You!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Anik Chakraborty</dc:creator>
  <cp:lastModifiedBy>Anik Chakraborty</cp:lastModifiedBy>
  <cp:revision>26</cp:revision>
  <dcterms:created xsi:type="dcterms:W3CDTF">2025-10-10T07:10:37Z</dcterms:created>
  <dcterms:modified xsi:type="dcterms:W3CDTF">2026-01-05T11:47:37Z</dcterms:modified>
</cp:coreProperties>
</file>